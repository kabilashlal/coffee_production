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28"/>
  </p:notesMasterIdLst>
  <p:sldIdLst>
    <p:sldId id="270" r:id="rId5"/>
    <p:sldId id="258" r:id="rId6"/>
    <p:sldId id="269" r:id="rId7"/>
    <p:sldId id="260" r:id="rId8"/>
    <p:sldId id="272" r:id="rId9"/>
    <p:sldId id="263" r:id="rId10"/>
    <p:sldId id="271" r:id="rId11"/>
    <p:sldId id="275" r:id="rId12"/>
    <p:sldId id="262" r:id="rId13"/>
    <p:sldId id="277" r:id="rId14"/>
    <p:sldId id="276" r:id="rId15"/>
    <p:sldId id="285" r:id="rId16"/>
    <p:sldId id="290" r:id="rId17"/>
    <p:sldId id="286" r:id="rId18"/>
    <p:sldId id="278" r:id="rId19"/>
    <p:sldId id="281" r:id="rId20"/>
    <p:sldId id="279" r:id="rId21"/>
    <p:sldId id="282" r:id="rId22"/>
    <p:sldId id="274" r:id="rId23"/>
    <p:sldId id="284" r:id="rId24"/>
    <p:sldId id="266" r:id="rId25"/>
    <p:sldId id="295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4E0FB63-6125-444D-AB67-FF8A488D5127}">
          <p14:sldIdLst>
            <p14:sldId id="270"/>
          </p14:sldIdLst>
        </p14:section>
        <p14:section name="Objectives" id="{5B14F365-1F14-4DC8-95DE-FBCA74AB3E6A}">
          <p14:sldIdLst>
            <p14:sldId id="258"/>
          </p14:sldIdLst>
        </p14:section>
        <p14:section name="The Team" id="{B62CBC8A-4F87-45C9-9B63-286990B79D5F}">
          <p14:sldIdLst>
            <p14:sldId id="269"/>
          </p14:sldIdLst>
        </p14:section>
        <p14:section name="Data Source" id="{A3992B12-022B-48AD-ABF9-940492EEC3AB}">
          <p14:sldIdLst>
            <p14:sldId id="260"/>
          </p14:sldIdLst>
        </p14:section>
        <p14:section name="Data resources" id="{5C6764CE-CCEF-4A99-B132-AD9E23C7E65C}">
          <p14:sldIdLst>
            <p14:sldId id="272"/>
            <p14:sldId id="263"/>
          </p14:sldIdLst>
        </p14:section>
        <p14:section name="Kelvin" id="{2656F0A1-E01C-425B-8CEC-9E24998D9B71}">
          <p14:sldIdLst>
            <p14:sldId id="271"/>
            <p14:sldId id="275"/>
            <p14:sldId id="262"/>
            <p14:sldId id="277"/>
            <p14:sldId id="276"/>
          </p14:sldIdLst>
        </p14:section>
        <p14:section name="Felix" id="{46F4166F-EF10-445F-A325-5CC10EB26D7A}">
          <p14:sldIdLst>
            <p14:sldId id="285"/>
            <p14:sldId id="290"/>
            <p14:sldId id="286"/>
            <p14:sldId id="278"/>
            <p14:sldId id="281"/>
            <p14:sldId id="279"/>
          </p14:sldIdLst>
        </p14:section>
        <p14:section name="Kabilash" id="{E9D2F020-0825-4521-91B6-54C8537B62D0}">
          <p14:sldIdLst>
            <p14:sldId id="282"/>
            <p14:sldId id="274"/>
            <p14:sldId id="284"/>
            <p14:sldId id="266"/>
            <p14:sldId id="295"/>
            <p14:sldId id="265"/>
          </p14:sldIdLst>
        </p14:section>
        <p14:section name="Background info" id="{9C9952F7-1F60-47D5-9097-EEBD579D16A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30C"/>
    <a:srgbClr val="26966F"/>
    <a:srgbClr val="70C416"/>
    <a:srgbClr val="E0960B"/>
    <a:srgbClr val="DE2323"/>
    <a:srgbClr val="06964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908" dt="2026-08-20T09:13:57.567"/>
    <p1510:client id="{0DC2026F-504A-CE09-85D7-77A372B69350}" v="1751" dt="2026-08-20T02:18:27.810"/>
    <p1510:client id="{66D88834-2E13-9859-F08E-9E85B86C96D9}" v="8" dt="2026-08-19T05:02:55.585"/>
    <p1510:client id="{82574C9A-80C2-F675-07B9-D8AC3AD96FD4}" v="171" dt="2026-08-20T02:51:09.260"/>
    <p1510:client id="{889DE334-4011-1E3B-1226-32E9E7168C67}" v="951" dt="2026-08-19T02:10:42.273"/>
    <p1510:client id="{90EF2884-A27A-8FC5-B00B-0923E37D4B1B}" v="92" dt="2026-08-20T05:33:47.128"/>
    <p1510:client id="{A60FB3B1-05AE-4733-9208-FEC690C778D6}" v="1275" dt="2026-08-19T09:19:57.001"/>
    <p1510:client id="{B39679E8-CAC5-F1AF-EEB0-1FB2B2C74D45}" v="277" dt="2026-08-20T03:50:18.247"/>
    <p1510:client id="{BA8D373A-AEBB-6F1A-2383-289A9B4F1775}" v="544" dt="2026-08-20T08:04:06.140"/>
    <p1510:client id="{BC85DD95-CDE7-73BA-8B82-746B20A15BA5}" v="87" dt="2026-08-20T01:44:35.443"/>
    <p1510:client id="{CE7F118F-ACA2-7667-AFE2-59FC01E241CE}" v="1049" dt="2026-08-20T03:19:04.136"/>
    <p1510:client id="{DB74218E-F5ED-7763-9716-978F059DDFA8}" v="101" dt="2026-08-20T09:01:40.136"/>
    <p1510:client id="{FC783775-8C1A-F549-E5D2-AB6D23C2A055}" v="3608" dt="2026-08-19T17:54:18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F14F6-226A-4F6C-9B67-4A69E826330E}" type="datetimeFigureOut"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007C1-8F4F-414B-9BC2-D3ECDD04E9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54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0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>
                <a:ea typeface="Calibri"/>
                <a:cs typeface="Calibri"/>
              </a:rPr>
              <a:t>Data source:</a:t>
            </a: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>
                <a:ea typeface="Calibri"/>
                <a:cs typeface="Calibri"/>
              </a:rPr>
              <a:t>Our data sources are primary from Kaggle and </a:t>
            </a:r>
            <a:r>
              <a:rPr lang="en-US" err="1">
                <a:ea typeface="Calibri"/>
                <a:cs typeface="Calibri"/>
              </a:rPr>
              <a:t>Url</a:t>
            </a:r>
            <a:r>
              <a:rPr lang="en-US">
                <a:ea typeface="Calibri"/>
                <a:cs typeface="Calibri"/>
              </a:rPr>
              <a:t> for co2 long term </a:t>
            </a:r>
            <a:r>
              <a:rPr lang="en-US" err="1">
                <a:ea typeface="Calibri"/>
                <a:cs typeface="Calibri"/>
              </a:rPr>
              <a:t>concentraion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endParaRPr lang="en-US">
              <a:ea typeface="Calibri"/>
              <a:cs typeface="Calibri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endParaRPr lang="en-US">
              <a:ea typeface="Calibri"/>
              <a:cs typeface="Calibri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93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Additional notes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Datasets: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We only have coffee types for coffee production, but not </a:t>
            </a:r>
            <a:r>
              <a:rPr lang="en-US" err="1">
                <a:ea typeface="Calibri"/>
                <a:cs typeface="Calibri"/>
              </a:rPr>
              <a:t>fo</a:t>
            </a:r>
            <a:r>
              <a:rPr lang="en-US">
                <a:ea typeface="Calibri"/>
                <a:cs typeface="Calibri"/>
              </a:rPr>
              <a:t>r export/import and consumption.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We cannot increase the detail of our </a:t>
            </a:r>
            <a:r>
              <a:rPr lang="en-US" err="1">
                <a:ea typeface="Calibri"/>
                <a:cs typeface="Calibri"/>
              </a:rPr>
              <a:t>analy</a:t>
            </a:r>
            <a:r>
              <a:rPr lang="en-US">
                <a:ea typeface="Calibri"/>
                <a:cs typeface="Calibri"/>
              </a:rPr>
              <a:t>sis by coffee types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Test-driven-development (TDD):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TDD is a modern methodology in software development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Advantages are few bugs and high test coverage amongst others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We did not perform any testing cycles during nor post development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Code </a:t>
            </a:r>
            <a:r>
              <a:rPr lang="en-US" err="1">
                <a:ea typeface="Calibri"/>
                <a:cs typeface="Calibri"/>
              </a:rPr>
              <a:t>optimiation</a:t>
            </a:r>
            <a:r>
              <a:rPr lang="en-US">
                <a:ea typeface="Calibri"/>
                <a:cs typeface="Calibri"/>
              </a:rPr>
              <a:t>: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Due to time pressure, there are many things we want to get done, one of it is code optimization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highlight>
                  <a:srgbClr val="FFFFFF"/>
                </a:highlight>
              </a:rPr>
              <a:t>As loops carry heavy overhead for large datasets compared to </a:t>
            </a:r>
            <a:r>
              <a:rPr lang="en-US" err="1">
                <a:highlight>
                  <a:srgbClr val="FFFFFF"/>
                </a:highlight>
              </a:rPr>
              <a:t>vecto</a:t>
            </a:r>
            <a:r>
              <a:rPr lang="en-US">
                <a:highlight>
                  <a:srgbClr val="FFFFFF"/>
                </a:highlight>
              </a:rPr>
              <a:t>rs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>
                <a:highlight>
                  <a:srgbClr val="FFFFFF"/>
                </a:highlight>
              </a:rPr>
              <a:t>Repetitive file reads penalizes I/O </a:t>
            </a:r>
            <a:r>
              <a:rPr lang="en-US" err="1">
                <a:highlight>
                  <a:srgbClr val="FFFFFF"/>
                </a:highlight>
              </a:rPr>
              <a:t>performa</a:t>
            </a:r>
            <a:r>
              <a:rPr lang="en-US">
                <a:highlight>
                  <a:srgbClr val="FFFFFF"/>
                </a:highlight>
              </a:rPr>
              <a:t>nce</a:t>
            </a:r>
            <a:endParaRPr lang="en-US"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0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85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95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13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93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9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31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3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1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83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67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8DEE-3CBF-54C5-4893-C9C8C201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94157-43E9-3E3C-861B-39F13AF84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63C24-94F9-C073-B1BE-384D3D73C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B6F40-9019-8888-DEAE-FA462C6E0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48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4007C1-8F4F-414B-9BC2-D3ECDD04E9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6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0508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8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088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2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4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6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2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2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0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1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3.pn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5.jpe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://Sourhttps:/alienart.io/projects/6a7fecbdea23d34093b7fe81" TargetMode="Externa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5.jpeg"/><Relationship Id="rId5" Type="http://schemas.openxmlformats.org/officeDocument/2006/relationships/image" Target="../media/image41.svg"/><Relationship Id="rId10" Type="http://schemas.openxmlformats.org/officeDocument/2006/relationships/image" Target="../media/image45.svg"/><Relationship Id="rId4" Type="http://schemas.openxmlformats.org/officeDocument/2006/relationships/image" Target="../media/image40.sv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4584FB-0F59-522D-A0B0-C2E6CFC37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9253" y="-155"/>
            <a:ext cx="10571762" cy="686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2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4BC3F-974E-82AF-BF38-80A071089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0800000" flipH="1">
            <a:off x="600290" y="1915422"/>
            <a:ext cx="565356" cy="389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4FC34-9C13-DB5A-AA0C-EDB86C35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92" y="-630"/>
            <a:ext cx="10397130" cy="1339939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Geographical Coffee Trade &amp; Sustainability </a:t>
            </a:r>
            <a:b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(1990 – 2019)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960BF-D178-29DD-32C0-5AD904DEF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7321" y="44268"/>
            <a:ext cx="725081" cy="625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D0B73D-35E3-E338-230A-0CDBFC035B4D}"/>
              </a:ext>
            </a:extLst>
          </p:cNvPr>
          <p:cNvSpPr txBox="1"/>
          <p:nvPr/>
        </p:nvSpPr>
        <p:spPr>
          <a:xfrm>
            <a:off x="1017113" y="1919360"/>
            <a:ext cx="9714442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Global Supply &amp; Re-Exports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Where does coffee actually come from, and who makes the money?</a:t>
            </a:r>
          </a:p>
          <a:p>
            <a:pPr>
              <a:buFont typeface="Arial"/>
            </a:pPr>
            <a:endParaRPr lang="en-US" sz="2000" b="1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sz="20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Insights on importer countries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Is the money in drinking coffee or in moving it?</a:t>
            </a:r>
          </a:p>
          <a:p>
            <a:pPr>
              <a:buFont typeface="Arial"/>
            </a:pPr>
            <a:endParaRPr lang="en-US" sz="200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sz="20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Coffee drinkers in Asia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Which country in Asia drinks more coffee than it can grow?</a:t>
            </a:r>
          </a:p>
          <a:p>
            <a:pPr>
              <a:buFont typeface="Arial"/>
            </a:pPr>
            <a:endParaRPr lang="en-US" sz="200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CO2 Impact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Is coffee cooking the planet?</a:t>
            </a:r>
            <a:br>
              <a:rPr lang="en-US" sz="2000" b="1">
                <a:latin typeface="Calibri"/>
                <a:ea typeface="Calibri"/>
                <a:cs typeface="Calibri"/>
              </a:rPr>
            </a:b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endParaRPr lang="en-US" sz="200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pic>
        <p:nvPicPr>
          <p:cNvPr id="8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D82E4EAB-F742-D832-A478-CB68A9CF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605206" y="2915854"/>
            <a:ext cx="565356" cy="389891"/>
          </a:xfrm>
          <a:prstGeom prst="rect">
            <a:avLst/>
          </a:prstGeom>
        </p:spPr>
      </p:pic>
      <p:pic>
        <p:nvPicPr>
          <p:cNvPr id="10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A769FB22-B0FC-04FB-552C-265CC3D86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605206" y="3862209"/>
            <a:ext cx="565356" cy="389891"/>
          </a:xfrm>
          <a:prstGeom prst="rect">
            <a:avLst/>
          </a:prstGeom>
        </p:spPr>
      </p:pic>
      <p:pic>
        <p:nvPicPr>
          <p:cNvPr id="11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B5330C56-A983-DDBF-0595-12EBDEA4A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598331" y="4803147"/>
            <a:ext cx="565356" cy="389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4C5C01-03B1-24C3-D5DA-0655EE60798A}"/>
              </a:ext>
            </a:extLst>
          </p:cNvPr>
          <p:cNvSpPr txBox="1"/>
          <p:nvPr/>
        </p:nvSpPr>
        <p:spPr>
          <a:xfrm>
            <a:off x="3052797" y="6301158"/>
            <a:ext cx="5762705" cy="306467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Out of 180 coffee species, we mainly drink just two: Arabica and Robusta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469526-934C-8718-8B3C-EF10CB323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8060" y="6309446"/>
            <a:ext cx="407093" cy="26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9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4E3A2-D430-3144-98CD-08E52725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FDF81-CA39-307D-583A-9092836C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662" y="5056286"/>
            <a:ext cx="4010820" cy="349559"/>
          </a:xfrm>
        </p:spPr>
        <p:txBody>
          <a:bodyPr anchor="ctr">
            <a:normAutofit fontScale="90000"/>
          </a:bodyPr>
          <a:lstStyle/>
          <a:p>
            <a:r>
              <a:rPr lang="en-US" sz="28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Say Hello to our Baristas!</a:t>
            </a:r>
            <a:endParaRPr lang="en-US" sz="2800" b="1">
              <a:solidFill>
                <a:schemeClr val="accent4">
                  <a:lumMod val="49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D2633DF-0AA3-CB5D-2AFF-156DAA2E9F3A}"/>
              </a:ext>
            </a:extLst>
          </p:cNvPr>
          <p:cNvSpPr txBox="1"/>
          <p:nvPr/>
        </p:nvSpPr>
        <p:spPr>
          <a:xfrm>
            <a:off x="2438634" y="4158127"/>
            <a:ext cx="1215738" cy="40011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Kabilash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518DC-3622-E59A-5EF4-979AD3DB5501}"/>
              </a:ext>
            </a:extLst>
          </p:cNvPr>
          <p:cNvSpPr txBox="1"/>
          <p:nvPr/>
        </p:nvSpPr>
        <p:spPr>
          <a:xfrm>
            <a:off x="4343633" y="4158126"/>
            <a:ext cx="1215738" cy="40011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Kelvin*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F6189-376C-9AF9-E782-E2116F8CB003}"/>
              </a:ext>
            </a:extLst>
          </p:cNvPr>
          <p:cNvSpPr txBox="1"/>
          <p:nvPr/>
        </p:nvSpPr>
        <p:spPr>
          <a:xfrm>
            <a:off x="6224052" y="4194996"/>
            <a:ext cx="1215738" cy="40011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Felix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57709-EA72-B32D-DFDF-3D940648CFA5}"/>
              </a:ext>
            </a:extLst>
          </p:cNvPr>
          <p:cNvSpPr txBox="1"/>
          <p:nvPr/>
        </p:nvSpPr>
        <p:spPr>
          <a:xfrm>
            <a:off x="8350277" y="4158125"/>
            <a:ext cx="1215738" cy="40011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Von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C5E74-2B2C-6271-C145-2A2997200093}"/>
              </a:ext>
            </a:extLst>
          </p:cNvPr>
          <p:cNvSpPr txBox="1"/>
          <p:nvPr/>
        </p:nvSpPr>
        <p:spPr>
          <a:xfrm>
            <a:off x="9149149" y="6480997"/>
            <a:ext cx="2149802" cy="3693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*the OG Barista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FA5ED-FFAF-A465-0698-6C6EE8B44578}"/>
              </a:ext>
            </a:extLst>
          </p:cNvPr>
          <p:cNvSpPr txBox="1"/>
          <p:nvPr/>
        </p:nvSpPr>
        <p:spPr>
          <a:xfrm>
            <a:off x="5011467" y="4905907"/>
            <a:ext cx="591673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Originally 5 members, </a:t>
            </a:r>
            <a:r>
              <a:rPr lang="en-US" sz="20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Team Hi^5</a:t>
            </a:r>
            <a:r>
              <a:rPr lang="en-US" sz="2000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unanimously retained its name after Zhihong’s transition to Luckin Coffee</a:t>
            </a:r>
            <a:r>
              <a:rPr lang="en-US" sz="2000">
                <a:ea typeface="+mn-lt"/>
                <a:cs typeface="+mn-lt"/>
              </a:rPr>
              <a:t>.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5484A-A13F-C298-DE1B-BE361C70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-3492"/>
            <a:ext cx="11292840" cy="422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1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8A45F-4481-9CCC-3C1D-13CC28F4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398" y="3433010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spc="10">
              <a:solidFill>
                <a:srgbClr val="000000"/>
              </a:solidFill>
            </a:endParaRPr>
          </a:p>
          <a:p>
            <a:pPr lvl="3">
              <a:buFont typeface="Calibri"/>
              <a:buChar char="-"/>
            </a:pPr>
            <a:endParaRPr lang="en-US" sz="1600" spc="10">
              <a:solidFill>
                <a:srgbClr val="000000"/>
              </a:solidFill>
            </a:endParaRPr>
          </a:p>
          <a:p>
            <a:pPr marL="822960" lvl="3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marL="822960" lvl="3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marL="274320" lvl="1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138AF819-CC3A-AC07-96F9-E0D3AE6E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999" y="54428"/>
            <a:ext cx="725081" cy="6259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C6428B-E764-C3A0-A3D4-F44813FAF087}"/>
              </a:ext>
            </a:extLst>
          </p:cNvPr>
          <p:cNvSpPr txBox="1">
            <a:spLocks/>
          </p:cNvSpPr>
          <p:nvPr/>
        </p:nvSpPr>
        <p:spPr>
          <a:xfrm>
            <a:off x="704633" y="-630"/>
            <a:ext cx="10454639" cy="922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Data Sources and Tools 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5836F2A-A5DC-5983-696D-35746136C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553414"/>
              </p:ext>
            </p:extLst>
          </p:nvPr>
        </p:nvGraphicFramePr>
        <p:xfrm>
          <a:off x="842685" y="1378914"/>
          <a:ext cx="929517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163">
                  <a:extLst>
                    <a:ext uri="{9D8B030D-6E8A-4147-A177-3AD203B41FA5}">
                      <a16:colId xmlns:a16="http://schemas.microsoft.com/office/drawing/2014/main" val="617211669"/>
                    </a:ext>
                  </a:extLst>
                </a:gridCol>
                <a:gridCol w="4262996">
                  <a:extLst>
                    <a:ext uri="{9D8B030D-6E8A-4147-A177-3AD203B41FA5}">
                      <a16:colId xmlns:a16="http://schemas.microsoft.com/office/drawing/2014/main" val="107634583"/>
                    </a:ext>
                  </a:extLst>
                </a:gridCol>
                <a:gridCol w="3619020">
                  <a:extLst>
                    <a:ext uri="{9D8B030D-6E8A-4147-A177-3AD203B41FA5}">
                      <a16:colId xmlns:a16="http://schemas.microsoft.com/office/drawing/2014/main" val="568418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Data type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URL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16799"/>
                  </a:ext>
                </a:extLst>
              </a:tr>
              <a:tr h="370839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Coffee economic indicators from the </a:t>
                      </a:r>
                      <a:b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International Coffee Organization dataset</a:t>
                      </a:r>
                      <a:endParaRPr lang="en-US" sz="1800" b="1" i="0" u="none" strike="noStrike" noProof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https://www.kaggle.com/datasets/michals22/coffee-dataset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66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List of countries with their ISO codes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https://www.kaggle.com/datasets/juanumusic/countries-iso-codes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53900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Our World in Data</a:t>
                      </a:r>
                      <a:endParaRPr lang="en-US" b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CO2 concentration in the atmosphere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https://ourworldindata.org/grapher/co2-long-term-concentration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418359"/>
                  </a:ext>
                </a:extLst>
              </a:tr>
            </a:tbl>
          </a:graphicData>
        </a:graphic>
      </p:graphicFrame>
      <p:pic>
        <p:nvPicPr>
          <p:cNvPr id="18" name="Graphic 11" descr="Kaggle">
            <a:extLst>
              <a:ext uri="{FF2B5EF4-FFF2-40B4-BE49-F238E27FC236}">
                <a16:creationId xmlns:a16="http://schemas.microsoft.com/office/drawing/2014/main" id="{E5E8EDFE-ADD3-A592-FA46-5826649AB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012" y="2166434"/>
            <a:ext cx="1138155" cy="359443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BA8EEE0-A7BB-7C71-C608-3DC5A34B2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157569"/>
              </p:ext>
            </p:extLst>
          </p:nvPr>
        </p:nvGraphicFramePr>
        <p:xfrm>
          <a:off x="833233" y="3984085"/>
          <a:ext cx="833463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342">
                  <a:extLst>
                    <a:ext uri="{9D8B030D-6E8A-4147-A177-3AD203B41FA5}">
                      <a16:colId xmlns:a16="http://schemas.microsoft.com/office/drawing/2014/main" val="617211669"/>
                    </a:ext>
                  </a:extLst>
                </a:gridCol>
                <a:gridCol w="5910288">
                  <a:extLst>
                    <a:ext uri="{9D8B030D-6E8A-4147-A177-3AD203B41FA5}">
                      <a16:colId xmlns:a16="http://schemas.microsoft.com/office/drawing/2014/main" val="107634583"/>
                    </a:ext>
                  </a:extLst>
                </a:gridCol>
              </a:tblGrid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Resources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16799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ETL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PyCharm/ Python scripts, Postgres SQL, models including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SQLAlchemy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, Pandas,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PyYaml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66960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Visualization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Matplotlib, Seaborn,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Plotly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Javascript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, Alienart.io</a:t>
                      </a:r>
                      <a:endParaRPr lang="en-US" sz="1800" b="0" i="0" u="none" strike="noStrike" noProof="0" err="1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85128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Collaboration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GitHub, MS Teams, AI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08413"/>
                  </a:ext>
                </a:extLst>
              </a:tr>
            </a:tbl>
          </a:graphicData>
        </a:graphic>
      </p:graphicFrame>
      <p:pic>
        <p:nvPicPr>
          <p:cNvPr id="7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E5F9C00F-937E-50C4-67A9-55E7223FC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60000" flipH="1">
            <a:off x="1748828" y="6385537"/>
            <a:ext cx="498514" cy="256207"/>
          </a:xfrm>
          <a:prstGeom prst="rect">
            <a:avLst/>
          </a:prstGeom>
        </p:spPr>
      </p:pic>
      <p:sp>
        <p:nvSpPr>
          <p:cNvPr id="4" name="TextBox 22">
            <a:extLst>
              <a:ext uri="{FF2B5EF4-FFF2-40B4-BE49-F238E27FC236}">
                <a16:creationId xmlns:a16="http://schemas.microsoft.com/office/drawing/2014/main" id="{A652AD81-ED66-E563-BA96-198242687E1C}"/>
              </a:ext>
            </a:extLst>
          </p:cNvPr>
          <p:cNvSpPr txBox="1"/>
          <p:nvPr/>
        </p:nvSpPr>
        <p:spPr>
          <a:xfrm>
            <a:off x="1586989" y="6375866"/>
            <a:ext cx="7454891" cy="717360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Font typeface="Arial"/>
              <a:buChar char="•"/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</a:t>
            </a: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“Java” became slang for coffee because coffee once shipped widely from the Indonesian island of Java.</a:t>
            </a:r>
            <a:endParaRPr lang="en-US" sz="1200" b="1" i="1">
              <a:solidFill>
                <a:schemeClr val="accent4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endParaRPr lang="en-US" sz="1200" b="1" i="1">
              <a:solidFill>
                <a:schemeClr val="accent4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021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2103A419-54E9-0F3A-AA70-780469184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506" y="5267"/>
            <a:ext cx="725081" cy="625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FB81D4-D176-183A-3500-F9837C669AC5}"/>
              </a:ext>
            </a:extLst>
          </p:cNvPr>
          <p:cNvSpPr txBox="1">
            <a:spLocks/>
          </p:cNvSpPr>
          <p:nvPr/>
        </p:nvSpPr>
        <p:spPr>
          <a:xfrm>
            <a:off x="704633" y="-630"/>
            <a:ext cx="10454639" cy="922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Key Limitations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102983-0B76-B87C-863A-6C0C66ECA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448433"/>
              </p:ext>
            </p:extLst>
          </p:nvPr>
        </p:nvGraphicFramePr>
        <p:xfrm>
          <a:off x="701195" y="919403"/>
          <a:ext cx="9924508" cy="3926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338">
                  <a:extLst>
                    <a:ext uri="{9D8B030D-6E8A-4147-A177-3AD203B41FA5}">
                      <a16:colId xmlns:a16="http://schemas.microsoft.com/office/drawing/2014/main" val="617211669"/>
                    </a:ext>
                  </a:extLst>
                </a:gridCol>
                <a:gridCol w="7878170">
                  <a:extLst>
                    <a:ext uri="{9D8B030D-6E8A-4147-A177-3AD203B41FA5}">
                      <a16:colId xmlns:a16="http://schemas.microsoft.com/office/drawing/2014/main" val="107634583"/>
                    </a:ext>
                  </a:extLst>
                </a:gridCol>
              </a:tblGrid>
              <a:tr h="4240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Tool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16799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Datasets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31520" marR="0" lvl="1" indent="-4572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Limited datasets; only pre-Covid data available from 1990 to 2019</a:t>
                      </a:r>
                    </a:p>
                    <a:p>
                      <a:pPr marL="731520" marR="0" lvl="1" indent="-4572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Coffee types for import/exports are missing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66960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Test-driven-development (TDD)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Due to time compression and lack of skillsets, we forgo this methodology and went straight to development.  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As such, we did not perform testing cycles during or post development.</a:t>
                      </a:r>
                    </a:p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However, sanity checks on data quality are still done during ETL process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85128"/>
                  </a:ext>
                </a:extLst>
              </a:tr>
              <a:tr h="3532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Code optimization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There is a point in time we need to stop coding and move on...with life</a:t>
                      </a:r>
                    </a:p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Vectorize/flatten codes to reduce the use of loops </a:t>
                      </a:r>
                      <a:endParaRPr lang="en-US"/>
                    </a:p>
                    <a:p>
                      <a:pPr marL="617220" marR="0" lvl="1" indent="-342900" algn="l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Reduce repetitive file reads in functions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57892"/>
                  </a:ext>
                </a:extLst>
              </a:tr>
            </a:tbl>
          </a:graphicData>
        </a:graphic>
      </p:graphicFrame>
      <p:sp>
        <p:nvSpPr>
          <p:cNvPr id="3" name="TextBox 4">
            <a:extLst>
              <a:ext uri="{FF2B5EF4-FFF2-40B4-BE49-F238E27FC236}">
                <a16:creationId xmlns:a16="http://schemas.microsoft.com/office/drawing/2014/main" id="{BB27D561-2A10-F186-C089-13DF08CC5239}"/>
              </a:ext>
            </a:extLst>
          </p:cNvPr>
          <p:cNvSpPr txBox="1"/>
          <p:nvPr/>
        </p:nvSpPr>
        <p:spPr>
          <a:xfrm>
            <a:off x="2223306" y="6432688"/>
            <a:ext cx="6457002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 Our local kopi uses Robusta beans roasted in a hot wok with sugar and butter</a:t>
            </a:r>
          </a:p>
        </p:txBody>
      </p:sp>
      <p:pic>
        <p:nvPicPr>
          <p:cNvPr id="9" name="Picture 8" descr="A cup of coffee with a spoon&#10;&#10;AI-generated content may be incorrect.">
            <a:extLst>
              <a:ext uri="{FF2B5EF4-FFF2-40B4-BE49-F238E27FC236}">
                <a16:creationId xmlns:a16="http://schemas.microsoft.com/office/drawing/2014/main" id="{6B802B59-6E18-47AA-D0B8-3258AC61E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784" y="6429762"/>
            <a:ext cx="407093" cy="26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2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1225-B8AF-D88D-3339-2FCA887C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B0556-E3E6-AFBF-F814-3F2DBC290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39" y="2086732"/>
            <a:ext cx="6267118" cy="43310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Missing data </a:t>
            </a:r>
            <a:r>
              <a:rPr lang="en-US" sz="1600">
                <a:latin typeface="Calibri"/>
                <a:ea typeface="Calibri"/>
                <a:cs typeface="Calibri"/>
              </a:rPr>
              <a:t>due to economic changes (Belgium/Luxembourg):</a:t>
            </a:r>
            <a:endParaRPr lang="en-US" sz="1600"/>
          </a:p>
          <a:p>
            <a:pPr lvl="1">
              <a:buFont typeface="Courier New" pitchFamily="34" charset="0"/>
              <a:buChar char="o"/>
            </a:pPr>
            <a:r>
              <a:rPr lang="en-US">
                <a:latin typeface="Calibri"/>
                <a:ea typeface="Calibri"/>
                <a:cs typeface="Calibri"/>
              </a:rPr>
              <a:t>Use control ratio to backfill missing data from 1990 to 1998</a:t>
            </a:r>
          </a:p>
          <a:p>
            <a:r>
              <a:rPr lang="en-US" sz="1600" b="1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Negative data </a:t>
            </a:r>
            <a:r>
              <a:rPr lang="en-US" sz="1600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Brazil export data for 2014/2015/2019:</a:t>
            </a:r>
          </a:p>
          <a:p>
            <a:pPr lvl="1">
              <a:buFont typeface="Courier New,monospace" pitchFamily="34" charset="0"/>
              <a:buChar char="o"/>
            </a:pP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Due to source corruption, had to patch from known source</a:t>
            </a:r>
          </a:p>
          <a:p>
            <a:r>
              <a:rPr lang="en-US" sz="1600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Need to </a:t>
            </a:r>
            <a:r>
              <a:rPr lang="en-US" sz="1600" b="1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do sanity checks</a:t>
            </a:r>
            <a:r>
              <a:rPr lang="en-US" sz="1600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on datasets before loading</a:t>
            </a:r>
          </a:p>
          <a:p>
            <a:pPr lvl="1">
              <a:buFont typeface="Courier New" pitchFamily="34" charset="0"/>
              <a:buChar char="o"/>
            </a:pP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 negative trade values (means no corrupted data)</a:t>
            </a:r>
          </a:p>
          <a:p>
            <a:pPr lvl="1">
              <a:buFont typeface="Courier New" pitchFamily="34" charset="0"/>
              <a:buChar char="o"/>
            </a:pP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Missing country codes due to unresolved country names</a:t>
            </a:r>
            <a:endParaRPr lang="en-US"/>
          </a:p>
          <a:p>
            <a:r>
              <a:rPr lang="en-US" sz="1600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Had to </a:t>
            </a:r>
            <a:r>
              <a:rPr lang="en-US" sz="1600" b="1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decide</a:t>
            </a:r>
            <a:r>
              <a:rPr lang="en-US" sz="1600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on whether it's better to create pivot tables into database during load or wrangle it using </a:t>
            </a:r>
            <a:r>
              <a:rPr lang="en-US" sz="1600" spc="0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dataframes</a:t>
            </a:r>
            <a:r>
              <a:rPr lang="en-US" sz="1600" spc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lvl="1">
              <a:buFont typeface="Courier New" pitchFamily="34" charset="0"/>
              <a:buChar char="o"/>
            </a:pP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More disadvantages than advantages</a:t>
            </a:r>
          </a:p>
          <a:p>
            <a:pPr lvl="1">
              <a:buFont typeface="Courier New" pitchFamily="34" charset="0"/>
              <a:buChar char="o"/>
            </a:pP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Decided to manipulate the tables in a </a:t>
            </a:r>
            <a:r>
              <a:rPr lang="en-US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dataframes</a:t>
            </a:r>
            <a:r>
              <a:rPr lang="en-US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, when pivoting is needed.</a:t>
            </a:r>
            <a:endParaRPr lang="en-US"/>
          </a:p>
          <a:p>
            <a:pPr lvl="1">
              <a:buFont typeface="Courier New" pitchFamily="34" charset="0"/>
              <a:buChar char="o"/>
            </a:pPr>
            <a:endParaRPr lang="en-US">
              <a:solidFill>
                <a:srgbClr val="262626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solidFill>
                <a:srgbClr val="262626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>
              <a:solidFill>
                <a:srgbClr val="262626"/>
              </a:solidFill>
            </a:endParaRPr>
          </a:p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C6DCF1F6-D259-A64F-7FB7-287B20BA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506" y="54428"/>
            <a:ext cx="725081" cy="62593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735D5AF-42BE-FC1E-B134-A396515E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67" y="365760"/>
            <a:ext cx="9692640" cy="64377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Challenges &amp; 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C323E-A1E1-85FB-B719-FC8F8D23D9BD}"/>
              </a:ext>
            </a:extLst>
          </p:cNvPr>
          <p:cNvSpPr txBox="1"/>
          <p:nvPr/>
        </p:nvSpPr>
        <p:spPr>
          <a:xfrm>
            <a:off x="326190" y="2147770"/>
            <a:ext cx="486610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We have</a:t>
            </a:r>
            <a:r>
              <a:rPr lang="en-US" sz="1600" b="0" i="1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different </a:t>
            </a:r>
            <a:r>
              <a:rPr lang="en-US" sz="1600" i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types and levels of skill</a:t>
            </a:r>
            <a:r>
              <a:rPr lang="en-US" sz="1600" b="0" i="1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sets</a:t>
            </a:r>
            <a:r>
              <a:rPr lang="en-US" sz="1600" i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!</a:t>
            </a:r>
            <a:endParaRPr lang="en-US" i="1"/>
          </a:p>
          <a:p>
            <a:pPr marL="228600" lvl="1" indent="-228600">
              <a:buFont typeface="Courier New,monospace"/>
              <a:buChar char="o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All 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members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have attempted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coding ETL scripts and visualization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marL="228600" lvl="1" indent="-228600">
              <a:buFont typeface="Courier New,monospace"/>
              <a:buChar char="o"/>
            </a:pP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For some, 1st time handling PyCharm and GitHub</a:t>
            </a:r>
          </a:p>
          <a:p>
            <a:pPr marL="228600" lvl="1" indent="-228600">
              <a:buFont typeface="Courier New,monospace"/>
              <a:buChar char="o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Experienced members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guide and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explain 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the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technical details 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along the way</a:t>
            </a:r>
            <a:endParaRPr lang="en-US" sz="16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Leverage on skills for </a:t>
            </a:r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delegation of work</a:t>
            </a:r>
            <a:endParaRPr lang="en-US" sz="16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28600" lvl="1" indent="-228600">
              <a:buFont typeface="Courier New,monospace"/>
              <a:buChar char="o"/>
            </a:pPr>
            <a:r>
              <a:rPr lang="en-US" sz="1600">
                <a:latin typeface="Calibri"/>
                <a:ea typeface="Calibri"/>
                <a:cs typeface="Arial"/>
              </a:rPr>
              <a:t>Good to have diversity in the team, technical, visualization, artistic, project management.</a:t>
            </a:r>
          </a:p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42F44B-8F8B-7CF5-A556-8A0283C95A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327" y="1207167"/>
            <a:ext cx="1061452" cy="94113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BD128A4-03D8-D4A5-9A4C-58D371FBB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5432" y="1180431"/>
            <a:ext cx="914400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359B91-A223-5144-2DCE-CDBF86796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0000">
            <a:off x="2764589" y="1180431"/>
            <a:ext cx="91440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CEEFDC7-4D07-051A-5E5A-8633A66DE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5747" y="1233904"/>
            <a:ext cx="914400" cy="914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560083D-7D57-5461-916B-54A50206F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8180000">
            <a:off x="8056930" y="1374544"/>
            <a:ext cx="660401" cy="66040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E4376EE-B405-9968-0598-84FDBEC94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700000">
            <a:off x="8793748" y="1220537"/>
            <a:ext cx="914400" cy="914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9D4D72A2-D0FF-44C6-9AE8-76DBDB041813}"/>
              </a:ext>
            </a:extLst>
          </p:cNvPr>
          <p:cNvSpPr txBox="1"/>
          <p:nvPr/>
        </p:nvSpPr>
        <p:spPr>
          <a:xfrm>
            <a:off x="1982673" y="6405950"/>
            <a:ext cx="6858056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Traditional Nanyang Coffee is brewed using a long-handled cotton filter bag that looks like a sock</a:t>
            </a:r>
          </a:p>
        </p:txBody>
      </p:sp>
      <p:pic>
        <p:nvPicPr>
          <p:cNvPr id="21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BE2CF781-D38D-B3DB-DF7C-3A527B674A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900000" flipH="1">
            <a:off x="2002827" y="6425642"/>
            <a:ext cx="498514" cy="2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6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455D-0794-3CEF-336B-0E2C9418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DADE-AA2B-3C56-D0D0-6999482E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74320" lvl="1" indent="0">
              <a:buNone/>
            </a:pPr>
            <a:endParaRPr lang="en-US" sz="1400">
              <a:solidFill>
                <a:srgbClr val="262626"/>
              </a:solidFill>
            </a:endParaRPr>
          </a:p>
          <a:p>
            <a:pPr marL="274320" lvl="1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6E3D3B52-A6E7-0FD8-9936-EA6A8945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506" y="54428"/>
            <a:ext cx="725081" cy="625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31DEBE6-55CC-136F-6EDC-446665A3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33" y="-630"/>
            <a:ext cx="10454639" cy="922996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Key Methodology &amp; Approach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B12B6E-30FE-381D-A87A-7EC9BF1F4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05188"/>
              </p:ext>
            </p:extLst>
          </p:nvPr>
        </p:nvGraphicFramePr>
        <p:xfrm>
          <a:off x="514417" y="1818587"/>
          <a:ext cx="10079658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946">
                  <a:extLst>
                    <a:ext uri="{9D8B030D-6E8A-4147-A177-3AD203B41FA5}">
                      <a16:colId xmlns:a16="http://schemas.microsoft.com/office/drawing/2014/main" val="2874612202"/>
                    </a:ext>
                  </a:extLst>
                </a:gridCol>
                <a:gridCol w="3559884">
                  <a:extLst>
                    <a:ext uri="{9D8B030D-6E8A-4147-A177-3AD203B41FA5}">
                      <a16:colId xmlns:a16="http://schemas.microsoft.com/office/drawing/2014/main" val="116120678"/>
                    </a:ext>
                  </a:extLst>
                </a:gridCol>
                <a:gridCol w="1707630">
                  <a:extLst>
                    <a:ext uri="{9D8B030D-6E8A-4147-A177-3AD203B41FA5}">
                      <a16:colId xmlns:a16="http://schemas.microsoft.com/office/drawing/2014/main" val="915609901"/>
                    </a:ext>
                  </a:extLst>
                </a:gridCol>
                <a:gridCol w="3332198">
                  <a:extLst>
                    <a:ext uri="{9D8B030D-6E8A-4147-A177-3AD203B41FA5}">
                      <a16:colId xmlns:a16="http://schemas.microsoft.com/office/drawing/2014/main" val="4017362171"/>
                    </a:ext>
                  </a:extLst>
                </a:gridCol>
              </a:tblGrid>
              <a:tr h="1345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0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Centralized execution</a:t>
                      </a:r>
                      <a:b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 main orchestrator script (main.py in Python) controls the pipeline by calling dedicated modules.</a:t>
                      </a:r>
                    </a:p>
                    <a:p>
                      <a:pPr lvl="0">
                        <a:buNone/>
                      </a:pP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Modularity</a:t>
                      </a:r>
                      <a:br>
                        <a:rPr lang="en-US" sz="2000" b="1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000" b="0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Isolated phases for extraction, transformation, and loading (ETL).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sz="20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64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endParaRPr lang="en-US" sz="2000" b="0" i="0" u="none" strike="noStrike" noProof="0">
                        <a:solidFill>
                          <a:srgbClr val="1F2328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Configuration-driven</a:t>
                      </a:r>
                      <a:r>
                        <a:rPr lang="en-US" sz="2000" b="0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: Pipeline parameters and dataset properties are stored externally. 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endParaRPr lang="en-US" sz="2000" b="0" i="0" u="none" strike="noStrike" noProof="0">
                        <a:solidFill>
                          <a:srgbClr val="1F2328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14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Environment Isolation</a:t>
                      </a:r>
                      <a:r>
                        <a:rPr lang="en-US" sz="2000" b="0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 Se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nsitive credentials are secured</a:t>
                      </a:r>
                      <a:r>
                        <a:rPr lang="en-US" sz="2000" b="0" i="0" u="none" strike="noStrike" noProof="0">
                          <a:solidFill>
                            <a:srgbClr val="1F2328"/>
                          </a:solidFill>
                          <a:latin typeface="Calibri"/>
                          <a:ea typeface="Calibri"/>
                          <a:cs typeface="Calibri"/>
                        </a:rPr>
                        <a:t> via environment variables.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66228"/>
                  </a:ext>
                </a:extLst>
              </a:tr>
            </a:tbl>
          </a:graphicData>
        </a:graphic>
      </p:graphicFrame>
      <p:pic>
        <p:nvPicPr>
          <p:cNvPr id="13" name="Graphic 12">
            <a:extLst>
              <a:ext uri="{FF2B5EF4-FFF2-40B4-BE49-F238E27FC236}">
                <a16:creationId xmlns:a16="http://schemas.microsoft.com/office/drawing/2014/main" id="{65E1F4DF-F102-336A-0245-91D2A48CC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0379" y="3760537"/>
            <a:ext cx="91440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D43F5ED-5D7B-1181-535D-09D1673CE8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0379" y="1715168"/>
            <a:ext cx="914400" cy="914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52FE6-F695-55B8-9D2F-F8CD9170D3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3221" y="1822116"/>
            <a:ext cx="914400" cy="914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2B61889-F30B-C54D-0E95-298B37587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221" y="3760537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DFD67CD-7933-748A-B359-C624D9CB1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380000">
            <a:off x="6687580" y="2454906"/>
            <a:ext cx="526717" cy="54008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B711FDB-5F5A-D2B2-C400-7A2FB4C43D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00000">
            <a:off x="6202756" y="2522055"/>
            <a:ext cx="406401" cy="459874"/>
          </a:xfrm>
          <a:prstGeom prst="rect">
            <a:avLst/>
          </a:prstGeom>
        </p:spPr>
      </p:pic>
      <p:pic>
        <p:nvPicPr>
          <p:cNvPr id="4" name="Picture 3" descr="A cup of coffee with a spoon&#10;&#10;AI-generated content may be incorrect.">
            <a:extLst>
              <a:ext uri="{FF2B5EF4-FFF2-40B4-BE49-F238E27FC236}">
                <a16:creationId xmlns:a16="http://schemas.microsoft.com/office/drawing/2014/main" id="{D752AF4A-2F99-EF70-88AA-4D3E9C1522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3955" y="6322815"/>
            <a:ext cx="407093" cy="262881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C0DCACFC-F522-04F2-E210-D31BC09578F6}"/>
              </a:ext>
            </a:extLst>
          </p:cNvPr>
          <p:cNvSpPr txBox="1"/>
          <p:nvPr/>
        </p:nvSpPr>
        <p:spPr>
          <a:xfrm>
            <a:off x="1792174" y="6324308"/>
            <a:ext cx="8448897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Arabica is a natural hybrid of Coffea </a:t>
            </a:r>
            <a:r>
              <a:rPr lang="en-US" sz="1200" b="1" i="1" err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canephora</a:t>
            </a: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(Robusta) and Coffea </a:t>
            </a:r>
            <a:r>
              <a:rPr lang="en-US" sz="1200" b="1" i="1" err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eugenioides</a:t>
            </a: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native to Ethiopia and South Sudan.</a:t>
            </a:r>
          </a:p>
        </p:txBody>
      </p:sp>
    </p:spTree>
    <p:extLst>
      <p:ext uri="{BB962C8B-B14F-4D97-AF65-F5344CB8AC3E}">
        <p14:creationId xmlns:p14="http://schemas.microsoft.com/office/powerpoint/2010/main" val="398458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96B5-7E23-124F-7D8C-1D6BD8D65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9074C894-3B9E-711A-AC82-B7F98EB3C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506" y="54428"/>
            <a:ext cx="725081" cy="62593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8D7214-AAE4-D193-1641-41CEF4C5F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1797" y="1370301"/>
            <a:ext cx="914400" cy="914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C3E272D-6A13-8864-00E8-395A2E10C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1796" y="2777069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26569F7-6C5F-8249-B0BA-BE120A914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1796" y="4219007"/>
            <a:ext cx="914400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FCBD433-EA0F-8F82-F933-C14FC8D63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1014" y="289567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57B796-C51E-4122-C605-EE01043F44DD}"/>
              </a:ext>
            </a:extLst>
          </p:cNvPr>
          <p:cNvSpPr txBox="1"/>
          <p:nvPr/>
        </p:nvSpPr>
        <p:spPr>
          <a:xfrm>
            <a:off x="4215951" y="2281595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extract.py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1F4EE7-9FFA-5673-F23E-946EEE120FBD}"/>
              </a:ext>
            </a:extLst>
          </p:cNvPr>
          <p:cNvSpPr txBox="1"/>
          <p:nvPr/>
        </p:nvSpPr>
        <p:spPr>
          <a:xfrm>
            <a:off x="4123545" y="3695259"/>
            <a:ext cx="16329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transform.py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5073F-4BB5-EF8C-D580-34FE99E955F7}"/>
              </a:ext>
            </a:extLst>
          </p:cNvPr>
          <p:cNvSpPr txBox="1"/>
          <p:nvPr/>
        </p:nvSpPr>
        <p:spPr>
          <a:xfrm>
            <a:off x="4392486" y="5219259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load.py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DB87EBF-C185-F059-D532-F6922B884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6729" y="4267278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537E94C-62A9-0F8E-9A9F-D04CD8F6A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9783" y="3092842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B1B90D-8F50-60B1-03EF-97FB9FBE0B3A}"/>
              </a:ext>
            </a:extLst>
          </p:cNvPr>
          <p:cNvSpPr txBox="1"/>
          <p:nvPr/>
        </p:nvSpPr>
        <p:spPr>
          <a:xfrm>
            <a:off x="1938916" y="3698019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main.py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38D371-8B67-A3F0-334D-C06A46A3ACF0}"/>
              </a:ext>
            </a:extLst>
          </p:cNvPr>
          <p:cNvSpPr txBox="1"/>
          <p:nvPr/>
        </p:nvSpPr>
        <p:spPr>
          <a:xfrm>
            <a:off x="236975" y="4018012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GitHub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7E158-9433-5E20-0C69-D37351D7769C}"/>
              </a:ext>
            </a:extLst>
          </p:cNvPr>
          <p:cNvSpPr txBox="1"/>
          <p:nvPr/>
        </p:nvSpPr>
        <p:spPr>
          <a:xfrm>
            <a:off x="6806750" y="5186158"/>
            <a:ext cx="15702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PostgreSQL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591B1-9E43-41C5-C5B0-9AFB1113305A}"/>
              </a:ext>
            </a:extLst>
          </p:cNvPr>
          <p:cNvSpPr txBox="1"/>
          <p:nvPr/>
        </p:nvSpPr>
        <p:spPr>
          <a:xfrm>
            <a:off x="9263079" y="3877311"/>
            <a:ext cx="18301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Analysis/</a:t>
            </a:r>
          </a:p>
          <a:p>
            <a:pPr algn="l"/>
            <a:r>
              <a:rPr lang="en-US">
                <a:latin typeface="Calibri"/>
                <a:ea typeface="Calibri"/>
                <a:cs typeface="Calibri"/>
              </a:rPr>
              <a:t>Visualization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5C0CDA4F-AD3C-A4B5-BBFC-DD837CA889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8273" y="4183249"/>
            <a:ext cx="564777" cy="59167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4299299-13C6-732D-D616-C6F27CE22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6227" y="3033717"/>
            <a:ext cx="564777" cy="59167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CBC9BEC-9E1D-8848-D493-4F1CDCB01361}"/>
              </a:ext>
            </a:extLst>
          </p:cNvPr>
          <p:cNvSpPr txBox="1"/>
          <p:nvPr/>
        </p:nvSpPr>
        <p:spPr>
          <a:xfrm>
            <a:off x="1829038" y="4787866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latin typeface="Calibri"/>
                <a:ea typeface="Calibri"/>
                <a:cs typeface="Calibri"/>
              </a:rPr>
              <a:t>config.yaml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68F2E0-9FD3-9BCA-658C-37021145CE50}"/>
              </a:ext>
            </a:extLst>
          </p:cNvPr>
          <p:cNvSpPr txBox="1"/>
          <p:nvPr/>
        </p:nvSpPr>
        <p:spPr>
          <a:xfrm>
            <a:off x="7114507" y="3629867"/>
            <a:ext cx="6647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.env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DD528AC-7F7E-068F-61F2-9675E10F4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37374" y="1729769"/>
            <a:ext cx="914400" cy="914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AF6EE1-1163-859E-CC48-887BB30BE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8401" y="2898667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830500E-1651-E134-34CF-C504CC4B1BBC}"/>
              </a:ext>
            </a:extLst>
          </p:cNvPr>
          <p:cNvSpPr txBox="1"/>
          <p:nvPr/>
        </p:nvSpPr>
        <p:spPr>
          <a:xfrm>
            <a:off x="8052845" y="1725783"/>
            <a:ext cx="1453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raw/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processed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A7A0BDD-40AB-7497-3F01-C05694B4B71C}"/>
              </a:ext>
            </a:extLst>
          </p:cNvPr>
          <p:cNvSpPr txBox="1">
            <a:spLocks/>
          </p:cNvSpPr>
          <p:nvPr/>
        </p:nvSpPr>
        <p:spPr>
          <a:xfrm>
            <a:off x="704633" y="-630"/>
            <a:ext cx="10454639" cy="922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Overview - Methodology &amp; Approach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86C88F-5B44-6C78-0665-6540DD2B4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63009" y="2998538"/>
            <a:ext cx="753981" cy="767348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451842F-523C-249C-C293-BA35422501DC}"/>
              </a:ext>
            </a:extLst>
          </p:cNvPr>
          <p:cNvSpPr/>
          <p:nvPr/>
        </p:nvSpPr>
        <p:spPr>
          <a:xfrm>
            <a:off x="4119461" y="1350574"/>
            <a:ext cx="1611076" cy="4504727"/>
          </a:xfrm>
          <a:custGeom>
            <a:avLst/>
            <a:gdLst>
              <a:gd name="csX0" fmla="*/ 0 w 1611076"/>
              <a:gd name="csY0" fmla="*/ 268518 h 4504727"/>
              <a:gd name="csX1" fmla="*/ 268518 w 1611076"/>
              <a:gd name="csY1" fmla="*/ 0 h 4504727"/>
              <a:gd name="csX2" fmla="*/ 827019 w 1611076"/>
              <a:gd name="csY2" fmla="*/ 0 h 4504727"/>
              <a:gd name="csX3" fmla="*/ 1342558 w 1611076"/>
              <a:gd name="csY3" fmla="*/ 0 h 4504727"/>
              <a:gd name="csX4" fmla="*/ 1611076 w 1611076"/>
              <a:gd name="csY4" fmla="*/ 268518 h 4504727"/>
              <a:gd name="csX5" fmla="*/ 1611076 w 1611076"/>
              <a:gd name="csY5" fmla="*/ 755977 h 4504727"/>
              <a:gd name="csX6" fmla="*/ 1611076 w 1611076"/>
              <a:gd name="csY6" fmla="*/ 1243436 h 4504727"/>
              <a:gd name="csX7" fmla="*/ 1611076 w 1611076"/>
              <a:gd name="csY7" fmla="*/ 1889603 h 4504727"/>
              <a:gd name="csX8" fmla="*/ 1611076 w 1611076"/>
              <a:gd name="csY8" fmla="*/ 2535770 h 4504727"/>
              <a:gd name="csX9" fmla="*/ 1611076 w 1611076"/>
              <a:gd name="csY9" fmla="*/ 3023229 h 4504727"/>
              <a:gd name="csX10" fmla="*/ 1611076 w 1611076"/>
              <a:gd name="csY10" fmla="*/ 3510688 h 4504727"/>
              <a:gd name="csX11" fmla="*/ 1611076 w 1611076"/>
              <a:gd name="csY11" fmla="*/ 4236209 h 4504727"/>
              <a:gd name="csX12" fmla="*/ 1342558 w 1611076"/>
              <a:gd name="csY12" fmla="*/ 4504727 h 4504727"/>
              <a:gd name="csX13" fmla="*/ 794798 w 1611076"/>
              <a:gd name="csY13" fmla="*/ 4504727 h 4504727"/>
              <a:gd name="csX14" fmla="*/ 268518 w 1611076"/>
              <a:gd name="csY14" fmla="*/ 4504727 h 4504727"/>
              <a:gd name="csX15" fmla="*/ 0 w 1611076"/>
              <a:gd name="csY15" fmla="*/ 4236209 h 4504727"/>
              <a:gd name="csX16" fmla="*/ 0 w 1611076"/>
              <a:gd name="csY16" fmla="*/ 3590042 h 4504727"/>
              <a:gd name="csX17" fmla="*/ 0 w 1611076"/>
              <a:gd name="csY17" fmla="*/ 3062906 h 4504727"/>
              <a:gd name="csX18" fmla="*/ 0 w 1611076"/>
              <a:gd name="csY18" fmla="*/ 2496093 h 4504727"/>
              <a:gd name="csX19" fmla="*/ 0 w 1611076"/>
              <a:gd name="csY19" fmla="*/ 1968957 h 4504727"/>
              <a:gd name="csX20" fmla="*/ 0 w 1611076"/>
              <a:gd name="csY20" fmla="*/ 1521175 h 4504727"/>
              <a:gd name="csX21" fmla="*/ 0 w 1611076"/>
              <a:gd name="csY21" fmla="*/ 954362 h 4504727"/>
              <a:gd name="csX22" fmla="*/ 0 w 1611076"/>
              <a:gd name="csY22" fmla="*/ 268518 h 4504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11076" h="4504727" extrusionOk="0">
                <a:moveTo>
                  <a:pt x="0" y="268518"/>
                </a:moveTo>
                <a:cubicBezTo>
                  <a:pt x="-8011" y="95073"/>
                  <a:pt x="104067" y="1391"/>
                  <a:pt x="268518" y="0"/>
                </a:cubicBezTo>
                <a:cubicBezTo>
                  <a:pt x="506539" y="-28514"/>
                  <a:pt x="641922" y="11214"/>
                  <a:pt x="827019" y="0"/>
                </a:cubicBezTo>
                <a:cubicBezTo>
                  <a:pt x="1012116" y="-11214"/>
                  <a:pt x="1100314" y="60019"/>
                  <a:pt x="1342558" y="0"/>
                </a:cubicBezTo>
                <a:cubicBezTo>
                  <a:pt x="1467535" y="16187"/>
                  <a:pt x="1582707" y="94694"/>
                  <a:pt x="1611076" y="268518"/>
                </a:cubicBezTo>
                <a:cubicBezTo>
                  <a:pt x="1640503" y="410627"/>
                  <a:pt x="1556578" y="593159"/>
                  <a:pt x="1611076" y="755977"/>
                </a:cubicBezTo>
                <a:cubicBezTo>
                  <a:pt x="1665574" y="918795"/>
                  <a:pt x="1604442" y="1124157"/>
                  <a:pt x="1611076" y="1243436"/>
                </a:cubicBezTo>
                <a:cubicBezTo>
                  <a:pt x="1617710" y="1362715"/>
                  <a:pt x="1591487" y="1746463"/>
                  <a:pt x="1611076" y="1889603"/>
                </a:cubicBezTo>
                <a:cubicBezTo>
                  <a:pt x="1630665" y="2032743"/>
                  <a:pt x="1560006" y="2322032"/>
                  <a:pt x="1611076" y="2535770"/>
                </a:cubicBezTo>
                <a:cubicBezTo>
                  <a:pt x="1662146" y="2749508"/>
                  <a:pt x="1571147" y="2851534"/>
                  <a:pt x="1611076" y="3023229"/>
                </a:cubicBezTo>
                <a:cubicBezTo>
                  <a:pt x="1651005" y="3194924"/>
                  <a:pt x="1559490" y="3370553"/>
                  <a:pt x="1611076" y="3510688"/>
                </a:cubicBezTo>
                <a:cubicBezTo>
                  <a:pt x="1662662" y="3650823"/>
                  <a:pt x="1524973" y="4035300"/>
                  <a:pt x="1611076" y="4236209"/>
                </a:cubicBezTo>
                <a:cubicBezTo>
                  <a:pt x="1618072" y="4416525"/>
                  <a:pt x="1502766" y="4503469"/>
                  <a:pt x="1342558" y="4504727"/>
                </a:cubicBezTo>
                <a:cubicBezTo>
                  <a:pt x="1134027" y="4513171"/>
                  <a:pt x="937282" y="4448139"/>
                  <a:pt x="794798" y="4504727"/>
                </a:cubicBezTo>
                <a:cubicBezTo>
                  <a:pt x="652314" y="4561315"/>
                  <a:pt x="453375" y="4474313"/>
                  <a:pt x="268518" y="4504727"/>
                </a:cubicBezTo>
                <a:cubicBezTo>
                  <a:pt x="125667" y="4493738"/>
                  <a:pt x="20469" y="4404631"/>
                  <a:pt x="0" y="4236209"/>
                </a:cubicBezTo>
                <a:cubicBezTo>
                  <a:pt x="-18573" y="4013218"/>
                  <a:pt x="55612" y="3894652"/>
                  <a:pt x="0" y="3590042"/>
                </a:cubicBezTo>
                <a:cubicBezTo>
                  <a:pt x="-55612" y="3285432"/>
                  <a:pt x="52442" y="3305962"/>
                  <a:pt x="0" y="3062906"/>
                </a:cubicBezTo>
                <a:cubicBezTo>
                  <a:pt x="-52442" y="2819850"/>
                  <a:pt x="52985" y="2646108"/>
                  <a:pt x="0" y="2496093"/>
                </a:cubicBezTo>
                <a:cubicBezTo>
                  <a:pt x="-52985" y="2346078"/>
                  <a:pt x="37988" y="2183371"/>
                  <a:pt x="0" y="1968957"/>
                </a:cubicBezTo>
                <a:cubicBezTo>
                  <a:pt x="-37988" y="1754543"/>
                  <a:pt x="42924" y="1732977"/>
                  <a:pt x="0" y="1521175"/>
                </a:cubicBezTo>
                <a:cubicBezTo>
                  <a:pt x="-42924" y="1309373"/>
                  <a:pt x="56508" y="1118936"/>
                  <a:pt x="0" y="954362"/>
                </a:cubicBezTo>
                <a:cubicBezTo>
                  <a:pt x="-56508" y="789788"/>
                  <a:pt x="21156" y="440435"/>
                  <a:pt x="0" y="268518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F2FA4050-AF67-ED4C-3DA9-BDF48135EE7E}"/>
              </a:ext>
            </a:extLst>
          </p:cNvPr>
          <p:cNvSpPr txBox="1"/>
          <p:nvPr/>
        </p:nvSpPr>
        <p:spPr>
          <a:xfrm>
            <a:off x="2479677" y="6417161"/>
            <a:ext cx="5039733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 </a:t>
            </a: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Coffee is the 2nd most traded commodity in the world, after crude oil</a:t>
            </a:r>
          </a:p>
        </p:txBody>
      </p:sp>
      <p:pic>
        <p:nvPicPr>
          <p:cNvPr id="6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2E639F84-96C8-C957-E9B4-A838D5AD96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900000" flipH="1">
            <a:off x="2497460" y="6439010"/>
            <a:ext cx="498514" cy="256207"/>
          </a:xfrm>
          <a:prstGeom prst="rect">
            <a:avLst/>
          </a:prstGeom>
        </p:spPr>
      </p:pic>
      <p:sp>
        <p:nvSpPr>
          <p:cNvPr id="2" name="Left Bracket 1">
            <a:extLst>
              <a:ext uri="{FF2B5EF4-FFF2-40B4-BE49-F238E27FC236}">
                <a16:creationId xmlns:a16="http://schemas.microsoft.com/office/drawing/2014/main" id="{9A35F367-83D2-0459-CE00-5E1F763FB097}"/>
              </a:ext>
            </a:extLst>
          </p:cNvPr>
          <p:cNvSpPr/>
          <p:nvPr/>
        </p:nvSpPr>
        <p:spPr>
          <a:xfrm>
            <a:off x="1439404" y="1952084"/>
            <a:ext cx="331671" cy="390635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41A630-ED37-D428-2A2C-97389342E739}"/>
              </a:ext>
            </a:extLst>
          </p:cNvPr>
          <p:cNvCxnSpPr/>
          <p:nvPr/>
        </p:nvCxnSpPr>
        <p:spPr>
          <a:xfrm flipV="1">
            <a:off x="5851999" y="2394290"/>
            <a:ext cx="1154713" cy="86595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65696A-6DDB-0023-A58C-85D31C04555A}"/>
              </a:ext>
            </a:extLst>
          </p:cNvPr>
          <p:cNvCxnSpPr>
            <a:cxnSpLocks/>
          </p:cNvCxnSpPr>
          <p:nvPr/>
        </p:nvCxnSpPr>
        <p:spPr>
          <a:xfrm flipV="1">
            <a:off x="2914612" y="3328353"/>
            <a:ext cx="1019521" cy="1792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F3FE57-4069-CE74-CF3D-4E5016358F44}"/>
              </a:ext>
            </a:extLst>
          </p:cNvPr>
          <p:cNvCxnSpPr>
            <a:cxnSpLocks/>
          </p:cNvCxnSpPr>
          <p:nvPr/>
        </p:nvCxnSpPr>
        <p:spPr>
          <a:xfrm flipV="1">
            <a:off x="2779417" y="2234514"/>
            <a:ext cx="1179295" cy="69389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0538EA-2114-3ABB-105A-6F087238509B}"/>
              </a:ext>
            </a:extLst>
          </p:cNvPr>
          <p:cNvCxnSpPr>
            <a:cxnSpLocks/>
          </p:cNvCxnSpPr>
          <p:nvPr/>
        </p:nvCxnSpPr>
        <p:spPr>
          <a:xfrm>
            <a:off x="2914611" y="3739566"/>
            <a:ext cx="945780" cy="59659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C6E906-E6F3-C046-086D-E1956F9C614F}"/>
              </a:ext>
            </a:extLst>
          </p:cNvPr>
          <p:cNvCxnSpPr/>
          <p:nvPr/>
        </p:nvCxnSpPr>
        <p:spPr>
          <a:xfrm>
            <a:off x="5888665" y="4599909"/>
            <a:ext cx="1148319" cy="184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C0A7AF-739E-5440-BC90-049A0F528DFE}"/>
              </a:ext>
            </a:extLst>
          </p:cNvPr>
          <p:cNvCxnSpPr>
            <a:cxnSpLocks/>
          </p:cNvCxnSpPr>
          <p:nvPr/>
        </p:nvCxnSpPr>
        <p:spPr>
          <a:xfrm>
            <a:off x="5851793" y="1871457"/>
            <a:ext cx="1148319" cy="184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F1A9716-546B-5668-7B43-66FDC04997E1}"/>
              </a:ext>
            </a:extLst>
          </p:cNvPr>
          <p:cNvCxnSpPr>
            <a:cxnSpLocks/>
          </p:cNvCxnSpPr>
          <p:nvPr/>
        </p:nvCxnSpPr>
        <p:spPr>
          <a:xfrm>
            <a:off x="7855116" y="3247973"/>
            <a:ext cx="1148319" cy="184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F6C3105-4D1B-967E-1F4A-F74B1F825277}"/>
              </a:ext>
            </a:extLst>
          </p:cNvPr>
          <p:cNvCxnSpPr>
            <a:cxnSpLocks/>
          </p:cNvCxnSpPr>
          <p:nvPr/>
        </p:nvCxnSpPr>
        <p:spPr>
          <a:xfrm flipH="1">
            <a:off x="5980016" y="2572004"/>
            <a:ext cx="1285164" cy="15547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70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25BE-0267-5F96-121A-52C94C19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24B94E-8C88-CC64-D67A-097CE7770ED0}"/>
              </a:ext>
            </a:extLst>
          </p:cNvPr>
          <p:cNvSpPr/>
          <p:nvPr/>
        </p:nvSpPr>
        <p:spPr>
          <a:xfrm>
            <a:off x="810483" y="1347067"/>
            <a:ext cx="6194779" cy="464615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09EE-65E9-CAF2-055C-0641F7B1B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74" y="3180737"/>
            <a:ext cx="3175330" cy="15860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2">
              <a:buFont typeface="Wingdings" pitchFamily="34" charset="0"/>
              <a:buChar char="§"/>
            </a:pPr>
            <a:r>
              <a:rPr lang="en-US" sz="20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Dataset sources</a:t>
            </a:r>
          </a:p>
          <a:p>
            <a:pPr lvl="2">
              <a:buFont typeface="Wingdings" pitchFamily="34" charset="0"/>
              <a:buChar char="§"/>
            </a:pPr>
            <a:r>
              <a:rPr lang="en-US" sz="20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Transformation required</a:t>
            </a:r>
          </a:p>
          <a:p>
            <a:pPr lvl="2">
              <a:buFont typeface="Wingdings" pitchFamily="34" charset="0"/>
              <a:buChar char="§"/>
            </a:pPr>
            <a:r>
              <a:rPr lang="en-US" sz="20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Database table names</a:t>
            </a:r>
          </a:p>
          <a:p>
            <a:endParaRPr lang="en-US" sz="2000" spc="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74320" lvl="1" indent="0">
              <a:buNone/>
            </a:pPr>
            <a:endParaRPr lang="en-US" sz="2000" spc="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buFont typeface="Courier New" pitchFamily="34" charset="0"/>
              <a:buChar char="o"/>
            </a:pPr>
            <a:endParaRPr lang="en-US" sz="2000" spc="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5AB71D02-C2B8-2F71-B5A7-5F3173374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C6ECECF-1801-3B05-7D89-6B2C45728120}"/>
              </a:ext>
            </a:extLst>
          </p:cNvPr>
          <p:cNvSpPr txBox="1">
            <a:spLocks/>
          </p:cNvSpPr>
          <p:nvPr/>
        </p:nvSpPr>
        <p:spPr>
          <a:xfrm>
            <a:off x="704633" y="-630"/>
            <a:ext cx="10454639" cy="922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Extract-Transform-Load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1603B04-B03C-CD4F-C428-63791D18B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5618" y="2205402"/>
            <a:ext cx="564777" cy="5916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3E5873-03E4-5FC2-BF0A-22A85487D62D}"/>
              </a:ext>
            </a:extLst>
          </p:cNvPr>
          <p:cNvSpPr txBox="1"/>
          <p:nvPr/>
        </p:nvSpPr>
        <p:spPr>
          <a:xfrm>
            <a:off x="1166383" y="2810019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latin typeface="Calibri"/>
                <a:ea typeface="Calibri"/>
                <a:cs typeface="Calibri"/>
              </a:rPr>
              <a:t>config.yaml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9273E-FA93-A6EA-12CF-215A80FDA860}"/>
              </a:ext>
            </a:extLst>
          </p:cNvPr>
          <p:cNvSpPr txBox="1"/>
          <p:nvPr/>
        </p:nvSpPr>
        <p:spPr>
          <a:xfrm>
            <a:off x="7635173" y="3283441"/>
            <a:ext cx="299884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1" indent="-342900">
              <a:buFont typeface="Wingdings"/>
              <a:buChar char="§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Grabs all dataset sources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/>
          </a:p>
          <a:p>
            <a:pPr marL="342900" lvl="1" indent="-342900" algn="l" rtl="0">
              <a:buFont typeface="Wingdings"/>
              <a:buChar char="§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Save them as csv files into data/raw folder for further processing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210B2C5-95F5-ED0E-C259-B2584F007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4149" y="206846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8AF2A9F-0373-FA77-030A-7E45DE05B02B}"/>
              </a:ext>
            </a:extLst>
          </p:cNvPr>
          <p:cNvSpPr txBox="1"/>
          <p:nvPr/>
        </p:nvSpPr>
        <p:spPr>
          <a:xfrm>
            <a:off x="7908303" y="2979755"/>
            <a:ext cx="1453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3C06D-A773-FF03-DB26-50AB13838F05}"/>
              </a:ext>
            </a:extLst>
          </p:cNvPr>
          <p:cNvSpPr txBox="1"/>
          <p:nvPr/>
        </p:nvSpPr>
        <p:spPr>
          <a:xfrm>
            <a:off x="937846" y="1524000"/>
            <a:ext cx="5872391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Configuration files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79FE05-9718-F8E7-4B1F-BE78808B0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073" y="2196633"/>
            <a:ext cx="3709707" cy="3551704"/>
          </a:xfrm>
          <a:prstGeom prst="rect">
            <a:avLst/>
          </a:prstGeom>
        </p:spPr>
      </p:pic>
      <p:sp>
        <p:nvSpPr>
          <p:cNvPr id="11" name="TextBox 22">
            <a:extLst>
              <a:ext uri="{FF2B5EF4-FFF2-40B4-BE49-F238E27FC236}">
                <a16:creationId xmlns:a16="http://schemas.microsoft.com/office/drawing/2014/main" id="{80BB7F64-62B4-C2A0-5968-B44C06FF9C03}"/>
              </a:ext>
            </a:extLst>
          </p:cNvPr>
          <p:cNvSpPr txBox="1"/>
          <p:nvPr/>
        </p:nvSpPr>
        <p:spPr>
          <a:xfrm>
            <a:off x="2479677" y="6356201"/>
            <a:ext cx="5649333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 A latte is expresso with more steamed milk and a thin layer of </a:t>
            </a:r>
            <a:r>
              <a:rPr lang="en-US" sz="1200" b="1" i="1" err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microfoam</a:t>
            </a:r>
            <a:endParaRPr lang="en-US" sz="1200" b="1" i="1">
              <a:solidFill>
                <a:schemeClr val="accent4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AD9E4E6C-AA38-3C7B-E700-013745AA9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900000" flipH="1">
            <a:off x="2568580" y="6378050"/>
            <a:ext cx="498514" cy="2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4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C1B3E-2BFA-F4F3-005E-4D4456D8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0E918-4D2B-E249-E448-FA6A17CC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16" y="5230777"/>
            <a:ext cx="8595360" cy="110578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Load:</a:t>
            </a:r>
            <a:endParaRPr lang="en-US"/>
          </a:p>
          <a:p>
            <a:pPr lvl="2">
              <a:buFont typeface="Wingdings,sans-serif" pitchFamily="34" charset="0"/>
              <a:buChar char="§"/>
            </a:pPr>
            <a:r>
              <a:rPr lang="en-US" sz="18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 tables in local PostgreSQL servers</a:t>
            </a:r>
          </a:p>
          <a:p>
            <a:pPr lvl="2">
              <a:buFont typeface="Wingdings,sans-serif" pitchFamily="34" charset="0"/>
              <a:buChar char="§"/>
            </a:pPr>
            <a:r>
              <a:rPr lang="en-US" sz="18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Options to load to online PostgreSQL like Neon</a:t>
            </a:r>
          </a:p>
          <a:p>
            <a:endParaRPr lang="en-US" spc="10">
              <a:solidFill>
                <a:srgbClr val="000000"/>
              </a:solidFill>
            </a:endParaRPr>
          </a:p>
          <a:p>
            <a:pPr lvl="2">
              <a:buFont typeface="Wingdings" pitchFamily="34" charset="0"/>
              <a:buChar char="§"/>
            </a:pPr>
            <a:endParaRPr lang="en-US" spc="10">
              <a:solidFill>
                <a:srgbClr val="000000"/>
              </a:solidFill>
            </a:endParaRPr>
          </a:p>
          <a:p>
            <a:pPr marL="274320" lvl="1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761B498F-172C-B8F9-B0BB-C12FBDAB4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7154A66-E540-1FB0-C264-99A55654339D}"/>
              </a:ext>
            </a:extLst>
          </p:cNvPr>
          <p:cNvSpPr txBox="1">
            <a:spLocks/>
          </p:cNvSpPr>
          <p:nvPr/>
        </p:nvSpPr>
        <p:spPr>
          <a:xfrm>
            <a:off x="704633" y="-630"/>
            <a:ext cx="10454639" cy="922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Extract-Transform-Load</a:t>
            </a:r>
            <a:endParaRPr lang="en-US" sz="3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05F1F9-F12F-C4F1-D7D7-D3E15A3FC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675101"/>
              </p:ext>
            </p:extLst>
          </p:nvPr>
        </p:nvGraphicFramePr>
        <p:xfrm>
          <a:off x="1318677" y="2305092"/>
          <a:ext cx="3804154" cy="2526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154">
                  <a:extLst>
                    <a:ext uri="{9D8B030D-6E8A-4147-A177-3AD203B41FA5}">
                      <a16:colId xmlns:a16="http://schemas.microsoft.com/office/drawing/2014/main" val="617211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Transform functions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16799"/>
                  </a:ext>
                </a:extLst>
              </a:tr>
              <a:tr h="4034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Clean/cast/update columns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6696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Align country names to code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202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Backfill missing data for Belgium &amp; Luxembourg from 1990-1998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22275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Append country codes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94843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Correct negative values in Brazil export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558530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633F07-AE4D-DC10-CD05-EB3F7B7D4658}"/>
              </a:ext>
            </a:extLst>
          </p:cNvPr>
          <p:cNvSpPr txBox="1">
            <a:spLocks/>
          </p:cNvSpPr>
          <p:nvPr/>
        </p:nvSpPr>
        <p:spPr>
          <a:xfrm>
            <a:off x="780721" y="1094921"/>
            <a:ext cx="4559444" cy="10023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Transform:</a:t>
            </a:r>
            <a:endParaRPr lang="en-US"/>
          </a:p>
          <a:p>
            <a:pPr lvl="1">
              <a:buFont typeface="Courier New" pitchFamily="34" charset="0"/>
              <a:buChar char="o"/>
            </a:pPr>
            <a:r>
              <a:rPr lang="en-US" sz="1800" spc="1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TRANSFORM_REGISTRY, dictionary used to register each transform function</a:t>
            </a: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pic>
        <p:nvPicPr>
          <p:cNvPr id="4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FF73F3B6-B483-83DD-6D37-825F033B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640930" y="1092462"/>
            <a:ext cx="565356" cy="389891"/>
          </a:xfrm>
          <a:prstGeom prst="rect">
            <a:avLst/>
          </a:prstGeom>
        </p:spPr>
      </p:pic>
      <p:pic>
        <p:nvPicPr>
          <p:cNvPr id="10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06D65147-7E30-D7A3-FBA1-1AD15953F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613588" y="5209504"/>
            <a:ext cx="565356" cy="389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CB1930-E053-64B2-D765-84447F90C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702" y="1093413"/>
            <a:ext cx="5191125" cy="3886760"/>
          </a:xfrm>
          <a:prstGeom prst="rect">
            <a:avLst/>
          </a:prstGeom>
        </p:spPr>
      </p:pic>
      <p:sp>
        <p:nvSpPr>
          <p:cNvPr id="12" name="TextBox 22">
            <a:extLst>
              <a:ext uri="{FF2B5EF4-FFF2-40B4-BE49-F238E27FC236}">
                <a16:creationId xmlns:a16="http://schemas.microsoft.com/office/drawing/2014/main" id="{77C6ADD2-1B0A-F85A-792A-8B57EAAAE04E}"/>
              </a:ext>
            </a:extLst>
          </p:cNvPr>
          <p:cNvSpPr txBox="1"/>
          <p:nvPr/>
        </p:nvSpPr>
        <p:spPr>
          <a:xfrm>
            <a:off x="2479677" y="6356201"/>
            <a:ext cx="5649333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 French press is an immersion brew that typically steep about 4 minutes</a:t>
            </a:r>
          </a:p>
        </p:txBody>
      </p:sp>
      <p:pic>
        <p:nvPicPr>
          <p:cNvPr id="14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E0572837-D952-BC0C-FB23-9A9053C4C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2568580" y="6378050"/>
            <a:ext cx="498514" cy="2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0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0D26-A82A-1EFC-4A59-383DC2AA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5932-6548-840F-3B3B-D2083DE8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67" y="365759"/>
            <a:ext cx="9692640" cy="483352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Database &amp; Table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8024-D28F-754A-5CCA-491F5A58D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19" y="1253958"/>
            <a:ext cx="7942077" cy="23230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Load directly into local PostgreSQL to allow each member to perform analysis independently. </a:t>
            </a:r>
            <a:endParaRPr lang="en-US">
              <a:solidFill>
                <a:srgbClr val="000000"/>
              </a:solidFill>
              <a:latin typeface="Century Schoolbook" panose="02040604050505020304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Country 3-alpha code added to coffee related datasets during transform phase to allow for easy joins, if needed.</a:t>
            </a:r>
            <a:endParaRPr lang="en-US"/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      No need to design relationship model or normalize tables; no schema used, schema is based on </a:t>
            </a:r>
            <a:r>
              <a:rPr lang="en-U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dataframe</a:t>
            </a:r>
            <a:endParaRPr lang="en-US" sz="2000" spc="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>
              <a:buFont typeface="Wingdings" pitchFamily="34" charset="0"/>
              <a:buChar char="§"/>
            </a:pPr>
            <a:endParaRPr lang="en-US" spc="10">
              <a:solidFill>
                <a:srgbClr val="000000"/>
              </a:solidFill>
            </a:endParaRPr>
          </a:p>
          <a:p>
            <a:pPr marL="274320" lvl="1" indent="0">
              <a:buNone/>
            </a:pPr>
            <a:endParaRPr lang="en-US" spc="10">
              <a:solidFill>
                <a:srgbClr val="000000"/>
              </a:solidFill>
            </a:endParaRPr>
          </a:p>
          <a:p>
            <a:pPr lvl="1">
              <a:buFont typeface="Courier New" pitchFamily="34" charset="0"/>
              <a:buChar char="o"/>
            </a:pPr>
            <a:endParaRPr lang="en-US" spc="10">
              <a:solidFill>
                <a:srgbClr val="000000"/>
              </a:solidFill>
            </a:endParaRP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D0D0A6B1-8B11-225D-5A24-4F7A60916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94EF5B-5960-593F-ACAF-1129679EA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12" y="3574029"/>
            <a:ext cx="8024661" cy="2572573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6771232-2FED-94D8-6C9D-97C4DE39C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547170" y="1256744"/>
            <a:ext cx="565356" cy="389891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DF0212E7-7441-4095-7614-EDC2B567C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539922" y="2049893"/>
            <a:ext cx="565356" cy="389891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E1C7924A-C22D-8ACB-33FC-21BF69B6D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556044" y="2814639"/>
            <a:ext cx="565356" cy="389891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734DD3A7-47D1-4F83-4A29-9E76F35A0F04}"/>
              </a:ext>
            </a:extLst>
          </p:cNvPr>
          <p:cNvSpPr txBox="1"/>
          <p:nvPr/>
        </p:nvSpPr>
        <p:spPr>
          <a:xfrm>
            <a:off x="2540637" y="6356201"/>
            <a:ext cx="7102213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 Expresso shot times often fall around 25 – 35 seconds, but dependent on dose, grind and machine</a:t>
            </a:r>
          </a:p>
        </p:txBody>
      </p:sp>
      <p:pic>
        <p:nvPicPr>
          <p:cNvPr id="12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13330FF8-A40E-45C9-A951-A7D9BBC37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2568580" y="6378050"/>
            <a:ext cx="498514" cy="2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06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51C2E-6BBC-C3ED-2ACE-9A376201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19A8-CF16-7619-E5CB-FB4DDF09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04" y="2076919"/>
            <a:ext cx="8075062" cy="200735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On the World Map:</a:t>
            </a:r>
            <a:b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Countries who bring you Coffee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386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B5F8-942E-93FA-9FDE-B264AD52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F71485-ED8F-EA14-E697-43213442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67" y="365759"/>
            <a:ext cx="9692640" cy="483352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On the World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DF8F2-1312-9F65-23D4-9CAACDDE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856068"/>
            <a:ext cx="10434320" cy="5227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CD917E-8873-BEB3-68EB-31918BEBCD86}"/>
              </a:ext>
            </a:extLst>
          </p:cNvPr>
          <p:cNvSpPr txBox="1"/>
          <p:nvPr/>
        </p:nvSpPr>
        <p:spPr>
          <a:xfrm>
            <a:off x="443681" y="4696530"/>
            <a:ext cx="2254171" cy="64633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*This is an interactive HTML map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FF6A1-34D9-6E52-A1A1-323F024DD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2997835"/>
            <a:ext cx="17526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6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5C3C4-926B-49C9-A0A7-AC679CEE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11138F-C2A2-F7EA-8123-9A0F9843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744" y="1873719"/>
            <a:ext cx="8075062" cy="265759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Insights on importer countries: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What is the consumption trend over time vs re-export volume?</a:t>
            </a:r>
          </a:p>
          <a:p>
            <a:endParaRPr lang="en-US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1388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66EF-12E4-36BD-0611-78BC5A9A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CB7E27D2-8674-ABDB-058B-C8545FF42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16C18E-CBD5-D7A4-3CE8-F555018CD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47" y="1002994"/>
            <a:ext cx="11085870" cy="501567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5DB1CEC-910E-4293-088E-FE89D17C8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62" y="-462435"/>
            <a:ext cx="9692640" cy="1325562"/>
          </a:xfrm>
        </p:spPr>
        <p:txBody>
          <a:bodyPr/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Coffee Importer Consumption Trends </a:t>
            </a:r>
            <a:endParaRPr lang="en-US">
              <a:solidFill>
                <a:schemeClr val="accent4">
                  <a:lumMod val="49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67598-0482-27B6-C513-99208F8B84FA}"/>
              </a:ext>
            </a:extLst>
          </p:cNvPr>
          <p:cNvSpPr txBox="1"/>
          <p:nvPr/>
        </p:nvSpPr>
        <p:spPr>
          <a:xfrm>
            <a:off x="8951603" y="1474362"/>
            <a:ext cx="230246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sz="1600">
                <a:latin typeface="Calibri"/>
                <a:ea typeface="Calibri"/>
                <a:cs typeface="Calibri"/>
              </a:rPr>
            </a:br>
            <a:endParaRPr lang="en-US" sz="1600">
              <a:latin typeface="Calibri"/>
              <a:ea typeface="Calibri"/>
              <a:cs typeface="Calibri"/>
            </a:endParaRPr>
          </a:p>
          <a:p>
            <a:endParaRPr lang="en-US" sz="1600">
              <a:latin typeface="Calibri"/>
              <a:ea typeface="Calibri"/>
              <a:cs typeface="Calibri"/>
            </a:endParaRPr>
          </a:p>
          <a:p>
            <a:endParaRPr lang="en-US" sz="1600">
              <a:latin typeface="Calibri"/>
              <a:ea typeface="Calibri"/>
              <a:cs typeface="Calibri"/>
            </a:endParaRPr>
          </a:p>
        </p:txBody>
      </p:sp>
      <p:pic>
        <p:nvPicPr>
          <p:cNvPr id="3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52BA6035-2EDA-1D4C-6BDD-64B189C15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900000" flipH="1">
            <a:off x="2524197" y="6398905"/>
            <a:ext cx="498514" cy="256207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4C333EC1-0065-38E3-56B5-9F3D9C3DC11C}"/>
              </a:ext>
            </a:extLst>
          </p:cNvPr>
          <p:cNvSpPr txBox="1"/>
          <p:nvPr/>
        </p:nvSpPr>
        <p:spPr>
          <a:xfrm>
            <a:off x="2784780" y="6419318"/>
            <a:ext cx="5815317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Pre-heating cups help keep espresso temperature stable in the first sips</a:t>
            </a:r>
          </a:p>
        </p:txBody>
      </p:sp>
    </p:spTree>
    <p:extLst>
      <p:ext uri="{BB962C8B-B14F-4D97-AF65-F5344CB8AC3E}">
        <p14:creationId xmlns:p14="http://schemas.microsoft.com/office/powerpoint/2010/main" val="50419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AC57-7E25-4F2D-495D-E00200F6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04" y="2076919"/>
            <a:ext cx="8633862" cy="200735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Coffee No Enough: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Which Asian country </a:t>
            </a:r>
            <a:r>
              <a:rPr lang="en-US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lim</a:t>
            </a: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more kopi?</a:t>
            </a:r>
          </a:p>
        </p:txBody>
      </p:sp>
    </p:spTree>
    <p:extLst>
      <p:ext uri="{BB962C8B-B14F-4D97-AF65-F5344CB8AC3E}">
        <p14:creationId xmlns:p14="http://schemas.microsoft.com/office/powerpoint/2010/main" val="1979497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0FF7-4EC6-02F4-3077-4693F6AB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BDA1-A82E-C9B2-CE6F-2D290893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20" y="-302661"/>
            <a:ext cx="9692640" cy="1325562"/>
          </a:xfrm>
        </p:spPr>
        <p:txBody>
          <a:bodyPr/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Coffee Production &amp; Consumption in Asia</a:t>
            </a:r>
          </a:p>
        </p:txBody>
      </p:sp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E4C0AACD-4CF2-7A0A-EBB8-8CBF81635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054F6-ABE7-FF4E-98E4-2AF19CD27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24" y="1083758"/>
            <a:ext cx="8410407" cy="46500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6361F1-F616-0C0C-B444-2B07EE9A9C94}"/>
              </a:ext>
            </a:extLst>
          </p:cNvPr>
          <p:cNvSpPr/>
          <p:nvPr/>
        </p:nvSpPr>
        <p:spPr>
          <a:xfrm>
            <a:off x="8327992" y="2430940"/>
            <a:ext cx="273174" cy="290603"/>
          </a:xfrm>
          <a:prstGeom prst="roundRect">
            <a:avLst/>
          </a:prstGeom>
          <a:solidFill>
            <a:srgbClr val="DE23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76CBE3-D4C1-81B4-843A-45A38FE03AFF}"/>
              </a:ext>
            </a:extLst>
          </p:cNvPr>
          <p:cNvSpPr txBox="1"/>
          <p:nvPr/>
        </p:nvSpPr>
        <p:spPr>
          <a:xfrm>
            <a:off x="8595184" y="2433008"/>
            <a:ext cx="2302465" cy="24776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Philippines' demand  is at  a staggering 315% . They cannot grow enough to sustain their nation of coffee drinkers.</a:t>
            </a:r>
            <a:br>
              <a:rPr lang="en-US" sz="1500">
                <a:latin typeface="Calibri"/>
                <a:ea typeface="Calibri"/>
                <a:cs typeface="Calibri"/>
              </a:rPr>
            </a:br>
            <a:endParaRPr lang="en-US" sz="1500">
              <a:latin typeface="Calibri"/>
              <a:ea typeface="Calibri"/>
              <a:cs typeface="Calibri"/>
            </a:endParaRPr>
          </a:p>
          <a:p>
            <a:endParaRPr lang="en-US" sz="1600">
              <a:latin typeface="Calibri"/>
              <a:ea typeface="Calibri"/>
              <a:cs typeface="Calibri"/>
            </a:endParaRPr>
          </a:p>
          <a:p>
            <a:endParaRPr lang="en-US" sz="1600">
              <a:latin typeface="Calibri"/>
              <a:ea typeface="Calibri"/>
              <a:cs typeface="Calibri"/>
            </a:endParaRPr>
          </a:p>
        </p:txBody>
      </p:sp>
      <p:pic>
        <p:nvPicPr>
          <p:cNvPr id="15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1B9CAF6B-728D-5497-937C-3FB708584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900000" flipH="1">
            <a:off x="2524197" y="6398905"/>
            <a:ext cx="498514" cy="256207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5CF7B935-F842-FB90-2029-3EEB22B05BBC}"/>
              </a:ext>
            </a:extLst>
          </p:cNvPr>
          <p:cNvSpPr txBox="1"/>
          <p:nvPr/>
        </p:nvSpPr>
        <p:spPr>
          <a:xfrm>
            <a:off x="2784780" y="6419318"/>
            <a:ext cx="5815317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          Almost 80% of Singaporeans consume coffee regularly, with 58% drinking it daily</a:t>
            </a:r>
          </a:p>
        </p:txBody>
      </p:sp>
    </p:spTree>
    <p:extLst>
      <p:ext uri="{BB962C8B-B14F-4D97-AF65-F5344CB8AC3E}">
        <p14:creationId xmlns:p14="http://schemas.microsoft.com/office/powerpoint/2010/main" val="4244196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3002D-0729-B9B2-D828-210AAB46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3141-8DE6-4178-0A7D-ED7AEB71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25" y="2076919"/>
            <a:ext cx="8436009" cy="200735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Is Coffee cooking the planet?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Correlation != Causation</a:t>
            </a:r>
            <a:br>
              <a:rPr lang="en-US">
                <a:latin typeface="Calibri"/>
                <a:ea typeface="Calibri"/>
                <a:cs typeface="Calibri"/>
              </a:rPr>
            </a:b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3377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41354-2B3A-7859-3D63-C8392C57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imple greenhouse line drawing minimalist vector outline black lines on white background, AI generated">
            <a:extLst>
              <a:ext uri="{FF2B5EF4-FFF2-40B4-BE49-F238E27FC236}">
                <a16:creationId xmlns:a16="http://schemas.microsoft.com/office/drawing/2014/main" id="{D2969BEA-B1E1-D4BC-0C07-35ABA83368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5" b="6215"/>
          <a:stretch>
            <a:fillRect/>
          </a:stretch>
        </p:blipFill>
        <p:spPr>
          <a:xfrm>
            <a:off x="9135143" y="4275355"/>
            <a:ext cx="1791998" cy="1295718"/>
          </a:xfrm>
          <a:prstGeom prst="rect">
            <a:avLst/>
          </a:prstGeom>
        </p:spPr>
      </p:pic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C88ACBFE-5FBD-03FA-2A3B-97BA42882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1683" y="54428"/>
            <a:ext cx="725081" cy="625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655FBA-D126-4E35-60A0-D67C7075A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46" y="1169243"/>
            <a:ext cx="6563577" cy="45245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300222-BDD6-60B4-AF42-21A7F125F43B}"/>
              </a:ext>
            </a:extLst>
          </p:cNvPr>
          <p:cNvSpPr txBox="1"/>
          <p:nvPr/>
        </p:nvSpPr>
        <p:spPr>
          <a:xfrm>
            <a:off x="7114170" y="2377187"/>
            <a:ext cx="2738606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alibri"/>
                <a:ea typeface="Calibri"/>
                <a:cs typeface="Calibri"/>
              </a:rPr>
              <a:t>CO2: Greenhouses raise  CO2 500-1,000 ppm to promote plant growth.</a:t>
            </a:r>
            <a:endParaRPr lang="en-US" sz="1600"/>
          </a:p>
          <a:p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ABC322-49BF-3126-FF86-C4F4A58F6D19}"/>
              </a:ext>
            </a:extLst>
          </p:cNvPr>
          <p:cNvSpPr txBox="1">
            <a:spLocks/>
          </p:cNvSpPr>
          <p:nvPr/>
        </p:nvSpPr>
        <p:spPr>
          <a:xfrm>
            <a:off x="543032" y="365130"/>
            <a:ext cx="10397130" cy="618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Correlation of CO2 &amp; coffee production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85C48A1D-59F0-3548-B8E0-616DC1169891}"/>
              </a:ext>
            </a:extLst>
          </p:cNvPr>
          <p:cNvSpPr/>
          <p:nvPr/>
        </p:nvSpPr>
        <p:spPr>
          <a:xfrm>
            <a:off x="6852018" y="2587366"/>
            <a:ext cx="232037" cy="364631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E7DCFFF8-9ABB-2676-97F1-89F6835A4F57}"/>
              </a:ext>
            </a:extLst>
          </p:cNvPr>
          <p:cNvSpPr/>
          <p:nvPr/>
        </p:nvSpPr>
        <p:spPr>
          <a:xfrm rot="10800000">
            <a:off x="6845600" y="3435459"/>
            <a:ext cx="232037" cy="364631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A4224-380C-E798-C83A-404CCB11CB4B}"/>
              </a:ext>
            </a:extLst>
          </p:cNvPr>
          <p:cNvSpPr txBox="1"/>
          <p:nvPr/>
        </p:nvSpPr>
        <p:spPr>
          <a:xfrm>
            <a:off x="7111999" y="3428999"/>
            <a:ext cx="3275264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>
                <a:solidFill>
                  <a:srgbClr val="000000"/>
                </a:solidFill>
                <a:latin typeface="Calibri"/>
              </a:rPr>
              <a:t>Water usage: Higher CO2 shrinks stomata openings in the leaves --&gt; reducing water loss --&gt; less water needed</a:t>
            </a:r>
            <a:endParaRPr lang="en-US" sz="1600"/>
          </a:p>
          <a:p>
            <a:pPr algn="ctr"/>
            <a:endParaRPr lang="en-US"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E8B33919-0954-6AA7-8ABC-E8AFB444A3CB}"/>
              </a:ext>
            </a:extLst>
          </p:cNvPr>
          <p:cNvSpPr txBox="1"/>
          <p:nvPr/>
        </p:nvSpPr>
        <p:spPr>
          <a:xfrm>
            <a:off x="2437201" y="6192056"/>
            <a:ext cx="5267213" cy="490347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         </a:t>
            </a:r>
            <a:r>
              <a:rPr lang="en-US" sz="1200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 How much CO2 is there in our atmosphere, in percentage, currently?</a:t>
            </a:r>
            <a:br>
              <a:rPr lang="en-US" sz="1200" i="1">
                <a:latin typeface="Calibri"/>
                <a:ea typeface="Calibri"/>
                <a:cs typeface="Calibri"/>
              </a:rPr>
            </a:br>
            <a:r>
              <a:rPr lang="en-US" sz="1200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            CO2 = 0.043 % as compared to oxygen at 20.95%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63CC4-F061-D7BF-CBC1-8F3A36BC786B}"/>
              </a:ext>
            </a:extLst>
          </p:cNvPr>
          <p:cNvSpPr txBox="1"/>
          <p:nvPr/>
        </p:nvSpPr>
        <p:spPr>
          <a:xfrm rot="21060000">
            <a:off x="6670092" y="2068998"/>
            <a:ext cx="1174502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Fun facts!</a:t>
            </a:r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3" name="Picture 12" descr="A cup of coffee with a spoon&#10;&#10;AI-generated content may be incorrect.">
            <a:extLst>
              <a:ext uri="{FF2B5EF4-FFF2-40B4-BE49-F238E27FC236}">
                <a16:creationId xmlns:a16="http://schemas.microsoft.com/office/drawing/2014/main" id="{EBFEB1BE-D7A7-B3EC-1FAC-3A78419F2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91" y="6309447"/>
            <a:ext cx="407093" cy="26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73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3B5FF-73E0-C471-8A09-EB47317C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1186-59E6-4401-BEC7-397F17D1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04" y="2076919"/>
            <a:ext cx="8075062" cy="200735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From Farm to Table:</a:t>
            </a:r>
            <a:br>
              <a:rPr lang="en-US" b="1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Make a guess which are the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Top 15 coffee producing countries!</a:t>
            </a:r>
          </a:p>
        </p:txBody>
      </p:sp>
    </p:spTree>
    <p:extLst>
      <p:ext uri="{BB962C8B-B14F-4D97-AF65-F5344CB8AC3E}">
        <p14:creationId xmlns:p14="http://schemas.microsoft.com/office/powerpoint/2010/main" val="297363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EFE227-95C1-712A-561B-337DCAB90CE0}"/>
              </a:ext>
            </a:extLst>
          </p:cNvPr>
          <p:cNvSpPr/>
          <p:nvPr/>
        </p:nvSpPr>
        <p:spPr>
          <a:xfrm>
            <a:off x="1015999" y="492606"/>
            <a:ext cx="10190787" cy="6049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754728AF-ADC1-7C43-D174-801B22FA0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1683" y="3628"/>
            <a:ext cx="725081" cy="625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D74E9-F6FD-AAD0-0386-B3A6CF99F2E2}"/>
              </a:ext>
            </a:extLst>
          </p:cNvPr>
          <p:cNvSpPr txBox="1"/>
          <p:nvPr/>
        </p:nvSpPr>
        <p:spPr>
          <a:xfrm>
            <a:off x="406400" y="622300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  <a:hlinkClick r:id="rId6"/>
              </a:rPr>
              <a:t>Source: https://alienart.io/projects/6a7fecbdea23d34093b7fe81</a:t>
            </a:r>
          </a:p>
          <a:p>
            <a:pPr algn="ctr"/>
            <a:endParaRPr lang="en-US"/>
          </a:p>
        </p:txBody>
      </p:sp>
      <p:pic>
        <p:nvPicPr>
          <p:cNvPr id="7" name="Top 15 Coffee Producers Globally (1)">
            <a:hlinkClick r:id="" action="ppaction://media"/>
            <a:extLst>
              <a:ext uri="{FF2B5EF4-FFF2-40B4-BE49-F238E27FC236}">
                <a16:creationId xmlns:a16="http://schemas.microsoft.com/office/drawing/2014/main" id="{0571D6E6-47FE-3151-028A-C3256AC4FB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3412" y="551329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1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F0DAC-2E6D-E18D-8E0C-E8BCB4F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2C364AED-7B9D-1D05-D8A7-BE5FB3C4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506" y="54428"/>
            <a:ext cx="725081" cy="62593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EBFA5F7-237B-8B67-0A02-27DCEE659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67" y="365760"/>
            <a:ext cx="9692640" cy="64377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CCE862D-0B96-0389-F26B-7A6D285AEEC4}"/>
              </a:ext>
            </a:extLst>
          </p:cNvPr>
          <p:cNvSpPr txBox="1"/>
          <p:nvPr/>
        </p:nvSpPr>
        <p:spPr>
          <a:xfrm>
            <a:off x="1982673" y="6405950"/>
            <a:ext cx="6858056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2E3285C-0053-2ED0-96DF-649AF4FCB986}"/>
              </a:ext>
            </a:extLst>
          </p:cNvPr>
          <p:cNvSpPr txBox="1"/>
          <p:nvPr/>
        </p:nvSpPr>
        <p:spPr>
          <a:xfrm>
            <a:off x="1158240" y="4902200"/>
            <a:ext cx="954024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350"/>
              </a:lnSpc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     </a:t>
            </a:r>
            <a:r>
              <a:rPr lang="en-US" sz="2000" b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2000" b="1" i="0" u="none" strike="noStrike" baseline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time permits:</a:t>
            </a:r>
            <a:r>
              <a:rPr lang="en-US" sz="2000" b="1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2000" b="1">
                <a:solidFill>
                  <a:srgbClr val="444444"/>
                </a:solidFill>
                <a:latin typeface="Calibri"/>
                <a:ea typeface="Calibri"/>
                <a:cs typeface="Calibri"/>
              </a:rPr>
            </a:br>
            <a:endParaRPr lang="en-US" sz="2000" b="1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ts val="1350"/>
              </a:lnSpc>
              <a:buFont typeface="Calibri"/>
              <a:buChar char="-"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Look</a:t>
            </a:r>
            <a:r>
              <a:rPr lang="en-US" sz="2000" b="0" i="0" u="none" strike="noStrike" baseline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in </a:t>
            </a: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specialty</a:t>
            </a:r>
            <a:r>
              <a:rPr lang="en-US" sz="2000" b="0" i="0" u="none" strike="noStrike" baseline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coffee trade and consumption and perform predictive analysis on coffee trends</a:t>
            </a:r>
            <a:b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</a:rPr>
            </a:br>
            <a:endParaRPr lang="en-US" sz="20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ts val="1350"/>
              </a:lnSpc>
              <a:buFont typeface="Calibri"/>
              <a:buChar char="-"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Do</a:t>
            </a:r>
            <a:r>
              <a:rPr lang="en-US" sz="2000" b="0" i="0" u="none" strike="noStrike" baseline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the same with tea leave trades, especially for matcha</a:t>
            </a:r>
            <a:r>
              <a:rPr lang="en-US" sz="2000" b="0" i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2000" b="0" i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509F588-4976-3025-2072-7407FC235C8F}"/>
              </a:ext>
            </a:extLst>
          </p:cNvPr>
          <p:cNvSpPr txBox="1"/>
          <p:nvPr/>
        </p:nvSpPr>
        <p:spPr>
          <a:xfrm>
            <a:off x="1300480" y="3794760"/>
            <a:ext cx="8950960" cy="63581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350"/>
              </a:lnSpc>
            </a:pPr>
            <a:b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lang="en-US" b="1" i="0" u="none" strike="noStrike" baseline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capital deployed: $0.</a:t>
            </a:r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b="1" i="0" u="none" strike="noStrike" baseline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Total capital raised: $0. </a:t>
            </a:r>
            <a:r>
              <a:rPr lang="en-US" b="1" i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​</a:t>
            </a:r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 i="0" u="none" strike="noStrike" baseline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Consistency: </a:t>
            </a:r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Excellent</a:t>
            </a:r>
            <a:r>
              <a:rPr lang="en-US" b="1" i="0" u="none" strike="noStrike" baseline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b="1" i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endParaRPr lang="en-US">
              <a:solidFill>
                <a:schemeClr val="bg1"/>
              </a:solidFill>
            </a:endParaRPr>
          </a:p>
        </p:txBody>
      </p:sp>
      <p:pic>
        <p:nvPicPr>
          <p:cNvPr id="202" name="Graphic 201">
            <a:extLst>
              <a:ext uri="{FF2B5EF4-FFF2-40B4-BE49-F238E27FC236}">
                <a16:creationId xmlns:a16="http://schemas.microsoft.com/office/drawing/2014/main" id="{8DD077D0-3070-0471-6353-EE8A7FDCC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8160" y="1468120"/>
            <a:ext cx="772160" cy="782320"/>
          </a:xfrm>
          <a:prstGeom prst="rect">
            <a:avLst/>
          </a:prstGeom>
        </p:spPr>
      </p:pic>
      <p:pic>
        <p:nvPicPr>
          <p:cNvPr id="224" name="Graphic 223">
            <a:extLst>
              <a:ext uri="{FF2B5EF4-FFF2-40B4-BE49-F238E27FC236}">
                <a16:creationId xmlns:a16="http://schemas.microsoft.com/office/drawing/2014/main" id="{B927C6C7-2856-B4DA-4C13-4A854641F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2160" y="1516662"/>
            <a:ext cx="873760" cy="863600"/>
          </a:xfrm>
          <a:prstGeom prst="rect">
            <a:avLst/>
          </a:prstGeom>
        </p:spPr>
      </p:pic>
      <p:pic>
        <p:nvPicPr>
          <p:cNvPr id="246" name="Graphic 245">
            <a:extLst>
              <a:ext uri="{FF2B5EF4-FFF2-40B4-BE49-F238E27FC236}">
                <a16:creationId xmlns:a16="http://schemas.microsoft.com/office/drawing/2014/main" id="{D9B409FC-9B59-4B34-DD61-78D6E0625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6080" y="1468120"/>
            <a:ext cx="914400" cy="914400"/>
          </a:xfrm>
          <a:prstGeom prst="rect">
            <a:avLst/>
          </a:prstGeom>
        </p:spPr>
      </p:pic>
      <p:sp>
        <p:nvSpPr>
          <p:cNvPr id="345" name="Rectangle 344">
            <a:extLst>
              <a:ext uri="{FF2B5EF4-FFF2-40B4-BE49-F238E27FC236}">
                <a16:creationId xmlns:a16="http://schemas.microsoft.com/office/drawing/2014/main" id="{9274456F-7CA8-85DA-1D88-0DA0EC74E944}"/>
              </a:ext>
            </a:extLst>
          </p:cNvPr>
          <p:cNvSpPr/>
          <p:nvPr/>
        </p:nvSpPr>
        <p:spPr>
          <a:xfrm>
            <a:off x="809819" y="1576255"/>
            <a:ext cx="1272573" cy="1243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7C6B26B-565A-03D4-44E0-CEFDF984B4B5}"/>
              </a:ext>
            </a:extLst>
          </p:cNvPr>
          <p:cNvSpPr/>
          <p:nvPr/>
        </p:nvSpPr>
        <p:spPr>
          <a:xfrm>
            <a:off x="4142298" y="1535615"/>
            <a:ext cx="1272573" cy="1243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7" name="Graphic 346">
            <a:extLst>
              <a:ext uri="{FF2B5EF4-FFF2-40B4-BE49-F238E27FC236}">
                <a16:creationId xmlns:a16="http://schemas.microsoft.com/office/drawing/2014/main" id="{F5846139-05FE-8440-6FAF-6E1CF4DA8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8960" y="1417320"/>
            <a:ext cx="914400" cy="914400"/>
          </a:xfrm>
          <a:prstGeom prst="rect">
            <a:avLst/>
          </a:prstGeom>
        </p:spPr>
      </p:pic>
      <p:pic>
        <p:nvPicPr>
          <p:cNvPr id="358" name="Graphic 357">
            <a:extLst>
              <a:ext uri="{FF2B5EF4-FFF2-40B4-BE49-F238E27FC236}">
                <a16:creationId xmlns:a16="http://schemas.microsoft.com/office/drawing/2014/main" id="{04C98567-42BA-6DE3-6807-CD98DD879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9360" y="1529080"/>
            <a:ext cx="914400" cy="914400"/>
          </a:xfrm>
          <a:prstGeom prst="rect">
            <a:avLst/>
          </a:prstGeom>
        </p:spPr>
      </p:pic>
      <p:pic>
        <p:nvPicPr>
          <p:cNvPr id="359" name="Content Placeholder 4" descr="A close up of a coffee bean&#10;&#10;AI-generated content may be incorrect.">
            <a:extLst>
              <a:ext uri="{FF2B5EF4-FFF2-40B4-BE49-F238E27FC236}">
                <a16:creationId xmlns:a16="http://schemas.microsoft.com/office/drawing/2014/main" id="{06CCD40F-2D8D-6A66-0DA1-90CB84CED5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900000" flipH="1">
            <a:off x="976666" y="4769562"/>
            <a:ext cx="498514" cy="256207"/>
          </a:xfrm>
          <a:prstGeom prst="rect">
            <a:avLst/>
          </a:prstGeom>
        </p:spPr>
      </p:pic>
      <p:sp>
        <p:nvSpPr>
          <p:cNvPr id="818" name="TextBox 817">
            <a:extLst>
              <a:ext uri="{FF2B5EF4-FFF2-40B4-BE49-F238E27FC236}">
                <a16:creationId xmlns:a16="http://schemas.microsoft.com/office/drawing/2014/main" id="{F30691D9-EACE-3957-9030-2FA6D4C53908}"/>
              </a:ext>
            </a:extLst>
          </p:cNvPr>
          <p:cNvSpPr txBox="1"/>
          <p:nvPr/>
        </p:nvSpPr>
        <p:spPr>
          <a:xfrm>
            <a:off x="996627" y="2348618"/>
            <a:ext cx="21691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Open in the Philippines</a:t>
            </a:r>
            <a:endParaRPr lang="en-US"/>
          </a:p>
          <a:p>
            <a:r>
              <a:rPr lang="en-US" sz="1600">
                <a:latin typeface="Calibri"/>
                <a:ea typeface="Calibri"/>
                <a:cs typeface="Calibri"/>
              </a:rPr>
              <a:t>315% of domestic production consumed. Demand already outrun supply</a:t>
            </a:r>
            <a:endParaRPr lang="en-US"/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04696E8E-68FC-2DFB-0310-35A6F89ECE91}"/>
              </a:ext>
            </a:extLst>
          </p:cNvPr>
          <p:cNvSpPr txBox="1"/>
          <p:nvPr/>
        </p:nvSpPr>
        <p:spPr>
          <a:xfrm>
            <a:off x="4379907" y="2328298"/>
            <a:ext cx="26771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Buy, don't grow</a:t>
            </a:r>
            <a:endParaRPr lang="en-US" b="1">
              <a:latin typeface="Century Schoolbook" panose="02040604050505020304"/>
              <a:ea typeface="Calibri"/>
              <a:cs typeface="Calibri"/>
            </a:endParaRPr>
          </a:p>
          <a:p>
            <a:r>
              <a:rPr lang="en-US" sz="1600">
                <a:latin typeface="Calibri"/>
                <a:ea typeface="Calibri"/>
                <a:cs typeface="Calibri"/>
              </a:rPr>
              <a:t>55 producing countries. </a:t>
            </a:r>
            <a:br>
              <a:rPr lang="en-US" sz="1600">
                <a:latin typeface="Calibri"/>
                <a:ea typeface="Calibri"/>
                <a:cs typeface="Calibri"/>
              </a:rPr>
            </a:br>
            <a:r>
              <a:rPr lang="en-US" sz="1600">
                <a:latin typeface="Calibri"/>
                <a:ea typeface="Calibri"/>
                <a:cs typeface="Calibri"/>
              </a:rPr>
              <a:t>34 re-exporters. </a:t>
            </a:r>
            <a:br>
              <a:rPr lang="en-US" sz="1600">
                <a:latin typeface="Calibri"/>
                <a:ea typeface="Calibri"/>
                <a:cs typeface="Calibri"/>
              </a:rPr>
            </a:br>
            <a:r>
              <a:rPr lang="en-US" sz="1600">
                <a:latin typeface="Calibri"/>
                <a:ea typeface="Calibri"/>
                <a:cs typeface="Calibri"/>
              </a:rPr>
              <a:t>Zero overlap. The margin is booked in the middle.</a:t>
            </a:r>
            <a:endParaRPr lang="en-US"/>
          </a:p>
        </p:txBody>
      </p:sp>
      <p:sp>
        <p:nvSpPr>
          <p:cNvPr id="822" name="TextBox 821">
            <a:extLst>
              <a:ext uri="{FF2B5EF4-FFF2-40B4-BE49-F238E27FC236}">
                <a16:creationId xmlns:a16="http://schemas.microsoft.com/office/drawing/2014/main" id="{219CE9A8-B86A-7CF6-4685-E416528E26B8}"/>
              </a:ext>
            </a:extLst>
          </p:cNvPr>
          <p:cNvSpPr txBox="1"/>
          <p:nvPr/>
        </p:nvSpPr>
        <p:spPr>
          <a:xfrm>
            <a:off x="8078147" y="2277498"/>
            <a:ext cx="283971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Pour with a clear conscience – on this charge</a:t>
            </a:r>
          </a:p>
          <a:p>
            <a:r>
              <a:rPr lang="en-US" sz="1600">
                <a:latin typeface="Calibri"/>
                <a:ea typeface="Calibri"/>
                <a:cs typeface="Calibri"/>
              </a:rPr>
              <a:t>CO2 and production rose together for 30 years. </a:t>
            </a:r>
            <a:br>
              <a:rPr lang="en-US" sz="1600">
                <a:latin typeface="Calibri"/>
                <a:ea typeface="Calibri"/>
                <a:cs typeface="Calibri"/>
              </a:rPr>
            </a:br>
            <a:r>
              <a:rPr lang="en-US" sz="1600">
                <a:latin typeface="Calibri"/>
                <a:ea typeface="Calibri"/>
                <a:cs typeface="Calibri"/>
              </a:rPr>
              <a:t>Neither caused the other.</a:t>
            </a:r>
            <a:endParaRPr lang="en-US"/>
          </a:p>
        </p:txBody>
      </p:sp>
      <p:pic>
        <p:nvPicPr>
          <p:cNvPr id="823" name="Graphic 822">
            <a:extLst>
              <a:ext uri="{FF2B5EF4-FFF2-40B4-BE49-F238E27FC236}">
                <a16:creationId xmlns:a16="http://schemas.microsoft.com/office/drawing/2014/main" id="{B597581D-3171-F521-928D-6BC2D12E5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10320" y="1427480"/>
            <a:ext cx="914400" cy="914400"/>
          </a:xfrm>
          <a:prstGeom prst="rect">
            <a:avLst/>
          </a:prstGeom>
        </p:spPr>
      </p:pic>
      <p:pic>
        <p:nvPicPr>
          <p:cNvPr id="825" name="Picture 824" descr="A cup of coffee with a spoon&#10;&#10;AI-generated content may be incorrect.">
            <a:extLst>
              <a:ext uri="{FF2B5EF4-FFF2-40B4-BE49-F238E27FC236}">
                <a16:creationId xmlns:a16="http://schemas.microsoft.com/office/drawing/2014/main" id="{7B004164-8F7C-1186-AEAD-E376F85C21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5811" y="6400887"/>
            <a:ext cx="407093" cy="262881"/>
          </a:xfrm>
          <a:prstGeom prst="rect">
            <a:avLst/>
          </a:prstGeom>
        </p:spPr>
      </p:pic>
      <p:sp>
        <p:nvSpPr>
          <p:cNvPr id="831" name="TextBox 4">
            <a:extLst>
              <a:ext uri="{FF2B5EF4-FFF2-40B4-BE49-F238E27FC236}">
                <a16:creationId xmlns:a16="http://schemas.microsoft.com/office/drawing/2014/main" id="{141458A4-E112-98C7-D85B-CED14C88BBAE}"/>
              </a:ext>
            </a:extLst>
          </p:cNvPr>
          <p:cNvSpPr txBox="1"/>
          <p:nvPr/>
        </p:nvSpPr>
        <p:spPr>
          <a:xfrm>
            <a:off x="2084273" y="6405950"/>
            <a:ext cx="7081576" cy="296251"/>
          </a:xfrm>
          <a:prstGeom prst="roundRect">
            <a:avLst/>
          </a:prstGeom>
          <a:noFill/>
          <a:ln w="28575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lang="en-US" sz="1200" b="1" i="1">
                <a:solidFill>
                  <a:schemeClr val="accent4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           Coffee grounds are commonly reused in gardens and compost piles. Told you, we love Mother Earth!</a:t>
            </a:r>
          </a:p>
        </p:txBody>
      </p:sp>
    </p:spTree>
    <p:extLst>
      <p:ext uri="{BB962C8B-B14F-4D97-AF65-F5344CB8AC3E}">
        <p14:creationId xmlns:p14="http://schemas.microsoft.com/office/powerpoint/2010/main" val="3995698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D4A2-13B1-7269-B87C-F31BEFD7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a white and white logo with a cup of coffee and stars&#10;&#10;AI-generated content may be incorrect.">
            <a:extLst>
              <a:ext uri="{FF2B5EF4-FFF2-40B4-BE49-F238E27FC236}">
                <a16:creationId xmlns:a16="http://schemas.microsoft.com/office/drawing/2014/main" id="{8A6081F8-E098-51ED-9F23-B47238942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028" y="3628"/>
            <a:ext cx="725081" cy="625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C2AB67-3E10-81FD-DF41-C1B107D84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84" y="1006309"/>
            <a:ext cx="6629400" cy="5219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D65253-3892-BEB2-0F4E-DCCC0946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170" y="4780343"/>
            <a:ext cx="3730325" cy="1325562"/>
          </a:xfrm>
        </p:spPr>
        <p:txBody>
          <a:bodyPr>
            <a:normAutofit/>
          </a:bodyPr>
          <a:lstStyle/>
          <a:p>
            <a:r>
              <a:rPr lang="en-US" sz="5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75721224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F9A1475B6F354B94ED08E0F2851806" ma:contentTypeVersion="8" ma:contentTypeDescription="Create a new document." ma:contentTypeScope="" ma:versionID="bdb45ab27071ab56b08377d6feb39ec5">
  <xsd:schema xmlns:xsd="http://www.w3.org/2001/XMLSchema" xmlns:xs="http://www.w3.org/2001/XMLSchema" xmlns:p="http://schemas.microsoft.com/office/2006/metadata/properties" xmlns:ns2="b6ce7474-6d75-46bf-98d5-2e34da897051" targetNamespace="http://schemas.microsoft.com/office/2006/metadata/properties" ma:root="true" ma:fieldsID="e18dd33ca8fa991c4c4fd985e06c275a" ns2:_="">
    <xsd:import namespace="b6ce7474-6d75-46bf-98d5-2e34da8970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e7474-6d75-46bf-98d5-2e34da8970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12e6a1c-c778-403a-bcf3-20fd516974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ce7474-6d75-46bf-98d5-2e34da89705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758695-2BCC-4C8E-8828-1BCB33612352}">
  <ds:schemaRefs>
    <ds:schemaRef ds:uri="b6ce7474-6d75-46bf-98d5-2e34da8970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47C22DD-4E19-4738-BCD7-CB85CF5420B7}">
  <ds:schemaRefs>
    <ds:schemaRef ds:uri="b6ce7474-6d75-46bf-98d5-2e34da89705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4DC130C-67B8-4E92-9131-FA463C31DF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23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View</vt:lpstr>
      <vt:lpstr>PowerPoint Presentation</vt:lpstr>
      <vt:lpstr>Geographical Coffee Trade &amp; Sustainability  (1990 – 2019)</vt:lpstr>
      <vt:lpstr>Say Hello to our Baristas!</vt:lpstr>
      <vt:lpstr>PowerPoint Presentation</vt:lpstr>
      <vt:lpstr>PowerPoint Presentation</vt:lpstr>
      <vt:lpstr>Challenges &amp; Takeaways</vt:lpstr>
      <vt:lpstr>Key Methodology &amp; Approach</vt:lpstr>
      <vt:lpstr>PowerPoint Presentation</vt:lpstr>
      <vt:lpstr>PowerPoint Presentation</vt:lpstr>
      <vt:lpstr>PowerPoint Presentation</vt:lpstr>
      <vt:lpstr>Database &amp; Table Design</vt:lpstr>
      <vt:lpstr>On the World Map: Countries who bring you Coffee</vt:lpstr>
      <vt:lpstr>On the World Map</vt:lpstr>
      <vt:lpstr>Insights on importer countries: What is the consumption trend over time vs re-export volume? </vt:lpstr>
      <vt:lpstr>Coffee Importer Consumption Trends </vt:lpstr>
      <vt:lpstr>Coffee No Enough: Which Asian country lim more kopi?</vt:lpstr>
      <vt:lpstr>Coffee Production &amp; Consumption in Asia</vt:lpstr>
      <vt:lpstr>Is Coffee cooking the planet? Correlation != Causation </vt:lpstr>
      <vt:lpstr>PowerPoint Presentation</vt:lpstr>
      <vt:lpstr>From Farm to Table: Make a guess which are the Top 15 coffee producing countries!</vt:lpstr>
      <vt:lpstr>PowerPoint Presentation</vt:lpstr>
      <vt:lpstr>Conclusion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2026-08-16T01:22:13Z</dcterms:created>
  <dcterms:modified xsi:type="dcterms:W3CDTF">2026-08-20T09:15:40Z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0x01010049F9A1475B6F354B94ED08E0F2851806</vt:lpwstr>
  </property>
  <property fmtid="{D5CDD505-2E9C-101B-9397-08002B2CF9AE}" pid="3" name="MediaServiceImageTags">
    <vt:lpwstr/>
  </property>
</Properties>
</file>